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Default Extension="jpeg" ContentType="image/jpeg"/>
  <Override PartName="/ppt/tags/tag2.xml" ContentType="application/vnd.openxmlformats-officedocument.presentationml.tags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1.xml" ContentType="application/vnd.openxmlformats-officedocument.presentationml.tag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notesMasterIdLst>
    <p:notesMasterId r:id="rId13"/>
  </p:notesMasterIdLst>
  <p:handoutMasterIdLst>
    <p:handoutMasterId r:id="rId14"/>
  </p:handoutMasterIdLst>
  <p:sldIdLst>
    <p:sldId id="514" r:id="rId2"/>
    <p:sldId id="517" r:id="rId3"/>
    <p:sldId id="558" r:id="rId4"/>
    <p:sldId id="559" r:id="rId5"/>
    <p:sldId id="560" r:id="rId6"/>
    <p:sldId id="561" r:id="rId7"/>
    <p:sldId id="562" r:id="rId8"/>
    <p:sldId id="563" r:id="rId9"/>
    <p:sldId id="555" r:id="rId10"/>
    <p:sldId id="557" r:id="rId11"/>
    <p:sldId id="556" r:id="rId12"/>
  </p:sldIdLst>
  <p:sldSz cx="9144000" cy="6858000" type="screen4x3"/>
  <p:notesSz cx="6884988" cy="10018713"/>
  <p:defaultTextStyle>
    <a:defPPr>
      <a:defRPr lang="en-GB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Arial" charset="0"/>
      </a:defRPr>
    </a:lvl1pPr>
    <a:lvl2pPr marL="457189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Arial" charset="0"/>
      </a:defRPr>
    </a:lvl2pPr>
    <a:lvl3pPr marL="914377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Arial" charset="0"/>
      </a:defRPr>
    </a:lvl3pPr>
    <a:lvl4pPr marL="1371566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Arial" charset="0"/>
      </a:defRPr>
    </a:lvl4pPr>
    <a:lvl5pPr marL="1828754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Arial" charset="0"/>
      </a:defRPr>
    </a:lvl5pPr>
    <a:lvl6pPr marL="2285943" algn="l" defTabSz="457189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Arial" charset="0"/>
      </a:defRPr>
    </a:lvl6pPr>
    <a:lvl7pPr marL="2743131" algn="l" defTabSz="457189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Arial" charset="0"/>
      </a:defRPr>
    </a:lvl7pPr>
    <a:lvl8pPr marL="3200320" algn="l" defTabSz="457189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Arial" charset="0"/>
      </a:defRPr>
    </a:lvl8pPr>
    <a:lvl9pPr marL="3657509" algn="l" defTabSz="457189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Arial" charset="0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136">
          <p15:clr>
            <a:srgbClr val="A4A3A4"/>
          </p15:clr>
        </p15:guide>
        <p15:guide id="2" orient="horz" pos="4111">
          <p15:clr>
            <a:srgbClr val="A4A3A4"/>
          </p15:clr>
        </p15:guide>
        <p15:guide id="3" orient="horz" pos="151">
          <p15:clr>
            <a:srgbClr val="A4A3A4"/>
          </p15:clr>
        </p15:guide>
        <p15:guide id="4" orient="horz" pos="2449">
          <p15:clr>
            <a:srgbClr val="A4A3A4"/>
          </p15:clr>
        </p15:guide>
        <p15:guide id="5" orient="horz" pos="3567">
          <p15:clr>
            <a:srgbClr val="A4A3A4"/>
          </p15:clr>
        </p15:guide>
        <p15:guide id="6" orient="horz" pos="2545">
          <p15:clr>
            <a:srgbClr val="A4A3A4"/>
          </p15:clr>
        </p15:guide>
        <p15:guide id="7" orient="horz" pos="3845">
          <p15:clr>
            <a:srgbClr val="A4A3A4"/>
          </p15:clr>
        </p15:guide>
        <p15:guide id="8" pos="4969">
          <p15:clr>
            <a:srgbClr val="A4A3A4"/>
          </p15:clr>
        </p15:guide>
        <p15:guide id="9" pos="1941">
          <p15:clr>
            <a:srgbClr val="A4A3A4"/>
          </p15:clr>
        </p15:guide>
        <p15:guide id="10" pos="3818">
          <p15:clr>
            <a:srgbClr val="A4A3A4"/>
          </p15:clr>
        </p15:guide>
        <p15:guide id="11" pos="3727">
          <p15:clr>
            <a:srgbClr val="A4A3A4"/>
          </p15:clr>
        </p15:guide>
        <p15:guide id="12" pos="2834">
          <p15:clr>
            <a:srgbClr val="A4A3A4"/>
          </p15:clr>
        </p15:guide>
        <p15:guide id="13" pos="2926">
          <p15:clr>
            <a:srgbClr val="A4A3A4"/>
          </p15:clr>
        </p15:guide>
        <p15:guide id="14" pos="248">
          <p15:clr>
            <a:srgbClr val="A4A3A4"/>
          </p15:clr>
        </p15:guide>
        <p15:guide id="15" pos="2034">
          <p15:clr>
            <a:srgbClr val="A4A3A4"/>
          </p15:clr>
        </p15:guide>
      </p15:sldGuideLst>
    </p:ext>
    <p:ext uri="{2D200454-40CA-4A62-9FC3-DE9A4176ACB9}">
      <p15:notesGuideLst xmlns="" xmlns:p15="http://schemas.microsoft.com/office/powerpoint/2012/main">
        <p15:guide id="1" orient="horz" pos="3155">
          <p15:clr>
            <a:srgbClr val="A4A3A4"/>
          </p15:clr>
        </p15:guide>
        <p15:guide id="2" pos="216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000000"/>
    <a:srgbClr val="F6F8AE"/>
    <a:srgbClr val="9FB7D3"/>
    <a:srgbClr val="D6F294"/>
    <a:srgbClr val="97C3FF"/>
    <a:srgbClr val="FFFFFF"/>
    <a:srgbClr val="FFD193"/>
    <a:srgbClr val="8BC5FF"/>
    <a:srgbClr val="99CCFF"/>
    <a:srgbClr val="6A8FBF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3584" autoAdjust="0"/>
    <p:restoredTop sz="94280" autoAdjust="0"/>
  </p:normalViewPr>
  <p:slideViewPr>
    <p:cSldViewPr snapToGrid="0" snapToObjects="1">
      <p:cViewPr>
        <p:scale>
          <a:sx n="100" d="100"/>
          <a:sy n="100" d="100"/>
        </p:scale>
        <p:origin x="-1950" y="-24"/>
      </p:cViewPr>
      <p:guideLst>
        <p:guide orient="horz" pos="1136"/>
        <p:guide orient="horz" pos="4111"/>
        <p:guide orient="horz" pos="151"/>
        <p:guide orient="horz" pos="2449"/>
        <p:guide orient="horz" pos="3567"/>
        <p:guide orient="horz" pos="2545"/>
        <p:guide orient="horz" pos="3845"/>
        <p:guide pos="4969"/>
        <p:guide pos="1941"/>
        <p:guide pos="3818"/>
        <p:guide pos="3727"/>
        <p:guide pos="2834"/>
        <p:guide pos="2926"/>
        <p:guide pos="248"/>
        <p:guide pos="2034"/>
      </p:guideLst>
    </p:cSldViewPr>
  </p:slideViewPr>
  <p:outlineViewPr>
    <p:cViewPr>
      <p:scale>
        <a:sx n="33" d="100"/>
        <a:sy n="33" d="100"/>
      </p:scale>
      <p:origin x="0" y="549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4" d="100"/>
          <a:sy n="64" d="100"/>
        </p:scale>
        <p:origin x="-3414" y="-126"/>
      </p:cViewPr>
      <p:guideLst>
        <p:guide orient="horz" pos="3155"/>
        <p:guide pos="2168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2913" cy="50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588" tIns="48294" rIns="96588" bIns="48294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IETF 97 </a:t>
            </a:r>
            <a:endParaRPr lang="en-US" dirty="0"/>
          </a:p>
        </p:txBody>
      </p:sp>
      <p:sp>
        <p:nvSpPr>
          <p:cNvPr id="798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00488" y="0"/>
            <a:ext cx="2982912" cy="50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588" tIns="48294" rIns="96588" bIns="48294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2016-11-01 </a:t>
            </a:r>
            <a:endParaRPr lang="en-US" dirty="0"/>
          </a:p>
        </p:txBody>
      </p:sp>
      <p:sp>
        <p:nvSpPr>
          <p:cNvPr id="798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15475"/>
            <a:ext cx="2982913" cy="50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588" tIns="48294" rIns="96588" bIns="48294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CoRE WG </a:t>
            </a:r>
            <a:endParaRPr lang="en-US" dirty="0"/>
          </a:p>
        </p:txBody>
      </p:sp>
      <p:sp>
        <p:nvSpPr>
          <p:cNvPr id="798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00488" y="9515475"/>
            <a:ext cx="2982912" cy="50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588" tIns="48294" rIns="96588" bIns="48294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76D274C-D9FC-884E-8A8E-954E5B2A1058}" type="slidenum">
              <a:rPr lang="en-US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613450195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"/>
          </p:nvPr>
        </p:nvSpPr>
        <p:spPr>
          <a:xfrm>
            <a:off x="3900488" y="0"/>
            <a:ext cx="2982912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spcBef>
                <a:spcPct val="50000"/>
              </a:spcBef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2016-11-01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>
          <a:xfrm>
            <a:off x="3900488" y="9515475"/>
            <a:ext cx="2982912" cy="50165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200"/>
            </a:lvl1pPr>
          </a:lstStyle>
          <a:p>
            <a:fld id="{1C8CEC5D-63C7-A64E-A79A-3869E0976366}" type="slidenum">
              <a:rPr lang="en-US"/>
              <a:pPr/>
              <a:t>‹N›</a:t>
            </a:fld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2913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spcBef>
                <a:spcPct val="50000"/>
              </a:spcBef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IETF 97 </a:t>
            </a:r>
            <a:endParaRPr lang="en-US" dirty="0"/>
          </a:p>
        </p:txBody>
      </p:sp>
      <p:sp>
        <p:nvSpPr>
          <p:cNvPr id="5" name="Slide Image Placeholder 4"/>
          <p:cNvSpPr>
            <a:spLocks noGrp="1" noRot="1" noChangeAspect="1"/>
          </p:cNvSpPr>
          <p:nvPr>
            <p:ph type="sldImg" idx="2"/>
          </p:nvPr>
        </p:nvSpPr>
        <p:spPr>
          <a:xfrm>
            <a:off x="936625" y="750888"/>
            <a:ext cx="5011738" cy="37576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15475"/>
            <a:ext cx="2982913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spcBef>
                <a:spcPct val="50000"/>
              </a:spcBef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CoRE WG </a:t>
            </a:r>
            <a:endParaRPr lang="en-US" dirty="0"/>
          </a:p>
        </p:txBody>
      </p:sp>
      <p:sp>
        <p:nvSpPr>
          <p:cNvPr id="7" name="Notes Placeholder 6"/>
          <p:cNvSpPr>
            <a:spLocks noGrp="1"/>
          </p:cNvSpPr>
          <p:nvPr>
            <p:ph type="body" sz="quarter" idx="3"/>
          </p:nvPr>
        </p:nvSpPr>
        <p:spPr>
          <a:xfrm>
            <a:off x="688975" y="4759325"/>
            <a:ext cx="5507038" cy="45085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="" xmlns:p14="http://schemas.microsoft.com/office/powerpoint/2010/main" val="2755999638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1pPr>
    <a:lvl2pPr marL="457189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914377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37156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1828754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936625" y="750888"/>
            <a:ext cx="5011738" cy="3757612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1536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baseline="0" dirty="0">
              <a:latin typeface="Calibri" charset="0"/>
            </a:endParaRPr>
          </a:p>
        </p:txBody>
      </p:sp>
      <p:sp>
        <p:nvSpPr>
          <p:cNvPr id="15363" name="Date Placeholder 4"/>
          <p:cNvSpPr>
            <a:spLocks noGrp="1"/>
          </p:cNvSpPr>
          <p:nvPr>
            <p:ph type="dt" sz="quarter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 marL="784778" indent="-301838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 marL="1207351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 marL="1690291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 marL="2173232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marL="2656172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marL="3139112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marL="3622053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marL="4104993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</a:pPr>
            <a:r>
              <a:rPr lang="en-US" sz="1200">
                <a:latin typeface="Arial" charset="0"/>
              </a:rPr>
              <a:t>2016-11-01 </a:t>
            </a:r>
          </a:p>
        </p:txBody>
      </p:sp>
      <p:sp>
        <p:nvSpPr>
          <p:cNvPr id="15364" name="Footer Placeholder 5"/>
          <p:cNvSpPr>
            <a:spLocks noGrp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 marL="784778" indent="-301838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 marL="1207351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 marL="1690291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 marL="2173232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marL="2656172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marL="3139112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marL="3622053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marL="4104993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</a:pPr>
            <a:r>
              <a:rPr lang="en-US" sz="1200">
                <a:latin typeface="Arial" charset="0"/>
              </a:rPr>
              <a:t>CoRE WG </a:t>
            </a:r>
          </a:p>
        </p:txBody>
      </p:sp>
      <p:sp>
        <p:nvSpPr>
          <p:cNvPr id="15365" name="Slide Number Placeholder 7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 marL="784778" indent="-301838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 marL="1207351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 marL="1690291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 marL="2173232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marL="2656172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marL="3139112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marL="3622053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marL="4104993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</a:pPr>
            <a:fld id="{33163738-B355-4DC1-BD83-91374D9030B3}" type="slidenum">
              <a:rPr lang="en-US" sz="1200" smtClean="0">
                <a:latin typeface="Arial" charset="0"/>
              </a:rPr>
              <a:pPr eaLnBrk="1" fontAlgn="base" hangingPunct="1">
                <a:spcBef>
                  <a:spcPct val="50000"/>
                </a:spcBef>
                <a:spcAft>
                  <a:spcPct val="0"/>
                </a:spcAft>
              </a:pPr>
              <a:t>1</a:t>
            </a:fld>
            <a:endParaRPr lang="en-US" sz="1200">
              <a:latin typeface="Arial" charset="0"/>
            </a:endParaRPr>
          </a:p>
        </p:txBody>
      </p:sp>
      <p:sp>
        <p:nvSpPr>
          <p:cNvPr id="15366" name="Header Placeholder 8"/>
          <p:cNvSpPr>
            <a:spLocks noGrp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 marL="784778" indent="-301838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 marL="1207351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 marL="1690291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 marL="2173232" indent="-241470" eaLnBrk="0" hangingPunct="0"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marL="2656172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marL="3139112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marL="3622053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marL="4104993" indent="-24147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eaLnBrk="1" fontAlgn="base" hangingPunct="1">
              <a:spcBef>
                <a:spcPct val="50000"/>
              </a:spcBef>
              <a:spcAft>
                <a:spcPct val="0"/>
              </a:spcAft>
            </a:pPr>
            <a:r>
              <a:rPr lang="en-US" sz="1200">
                <a:latin typeface="Arial" charset="0"/>
              </a:rPr>
              <a:t>IETF 97 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936625" y="750888"/>
            <a:ext cx="5011738" cy="3757612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1536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latin typeface="Calibri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ubTitle_TM"/>
          <p:cNvSpPr>
            <a:spLocks noGrp="1" noChangeArrowheads="1"/>
          </p:cNvSpPr>
          <p:nvPr>
            <p:ph type="subTitle" idx="1"/>
          </p:nvPr>
        </p:nvSpPr>
        <p:spPr>
          <a:xfrm>
            <a:off x="393700" y="5137207"/>
            <a:ext cx="8355014" cy="1386001"/>
          </a:xfrm>
        </p:spPr>
        <p:txBody>
          <a:bodyPr anchor="b"/>
          <a:lstStyle>
            <a:lvl1pPr marL="0" indent="0">
              <a:lnSpc>
                <a:spcPct val="75000"/>
              </a:lnSpc>
              <a:spcBef>
                <a:spcPts val="0"/>
              </a:spcBef>
              <a:buFont typeface="Arial" charset="0"/>
              <a:buNone/>
              <a:defRPr sz="3100" baseline="0">
                <a:latin typeface="Arial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/>
          </p:nvPr>
        </p:nvSpPr>
        <p:spPr>
          <a:xfrm>
            <a:off x="393704" y="1808714"/>
            <a:ext cx="8351839" cy="2839491"/>
          </a:xfrm>
        </p:spPr>
        <p:txBody>
          <a:bodyPr>
            <a:normAutofit/>
          </a:bodyPr>
          <a:lstStyle>
            <a:lvl1pPr>
              <a:lnSpc>
                <a:spcPct val="75000"/>
              </a:lnSpc>
              <a:defRPr sz="7100">
                <a:latin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228973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"/>
          <p:cNvSpPr>
            <a:spLocks noGrp="1"/>
          </p:cNvSpPr>
          <p:nvPr>
            <p:ph idx="1"/>
          </p:nvPr>
        </p:nvSpPr>
        <p:spPr>
          <a:xfrm>
            <a:off x="396879" y="1800000"/>
            <a:ext cx="8351839" cy="3852000"/>
          </a:xfrm>
        </p:spPr>
        <p:txBody>
          <a:bodyPr/>
          <a:lstStyle>
            <a:lvl1pPr>
              <a:defRPr>
                <a:latin typeface="Calibri" panose="020F0502020204030204" pitchFamily="34" charset="0"/>
              </a:defRPr>
            </a:lvl1pPr>
            <a:lvl2pPr>
              <a:defRPr>
                <a:latin typeface="Calibri" panose="020F0502020204030204" pitchFamily="34" charset="0"/>
              </a:defRPr>
            </a:lvl2pPr>
            <a:lvl3pPr>
              <a:defRPr>
                <a:latin typeface="Calibri" panose="020F0502020204030204" pitchFamily="34" charset="0"/>
              </a:defRPr>
            </a:lvl3pPr>
            <a:lvl4pPr>
              <a:defRPr>
                <a:latin typeface="Calibri" panose="020F0502020204030204" pitchFamily="34" charset="0"/>
              </a:defRPr>
            </a:lvl4pPr>
            <a:lvl5pPr>
              <a:defRPr>
                <a:latin typeface="Calibri" panose="020F05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93701" y="239717"/>
            <a:ext cx="7494588" cy="108537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379010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3"/>
          <p:cNvSpPr>
            <a:spLocks noGrp="1"/>
          </p:cNvSpPr>
          <p:nvPr>
            <p:ph sz="quarter" idx="3"/>
          </p:nvPr>
        </p:nvSpPr>
        <p:spPr>
          <a:xfrm>
            <a:off x="4645029" y="1795467"/>
            <a:ext cx="4100513" cy="42846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/>
          </p:nvPr>
        </p:nvSpPr>
        <p:spPr>
          <a:xfrm>
            <a:off x="393704" y="1795467"/>
            <a:ext cx="4098925" cy="42846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3701" y="239717"/>
            <a:ext cx="7494588" cy="108537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1118297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/>
          <p:cNvSpPr>
            <a:spLocks noGrp="1"/>
          </p:cNvSpPr>
          <p:nvPr>
            <p:ph sz="quarter" idx="12"/>
          </p:nvPr>
        </p:nvSpPr>
        <p:spPr>
          <a:xfrm>
            <a:off x="6061077" y="1800231"/>
            <a:ext cx="2687638" cy="4724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/>
          </p:nvPr>
        </p:nvSpPr>
        <p:spPr>
          <a:xfrm>
            <a:off x="3228975" y="1800231"/>
            <a:ext cx="2687638" cy="4724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/>
          </p:nvPr>
        </p:nvSpPr>
        <p:spPr>
          <a:xfrm>
            <a:off x="393702" y="1800231"/>
            <a:ext cx="2687638" cy="4724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393701" y="239717"/>
            <a:ext cx="7494588" cy="108537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4158624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title, r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"/>
          <p:cNvSpPr>
            <a:spLocks noGrp="1"/>
          </p:cNvSpPr>
          <p:nvPr>
            <p:ph sz="quarter" idx="10"/>
          </p:nvPr>
        </p:nvSpPr>
        <p:spPr>
          <a:xfrm>
            <a:off x="393701" y="1800225"/>
            <a:ext cx="4105275" cy="472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393705" y="239717"/>
            <a:ext cx="7494587" cy="108537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3246829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title, r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"/>
          <p:cNvSpPr>
            <a:spLocks noGrp="1"/>
          </p:cNvSpPr>
          <p:nvPr>
            <p:ph sz="quarter" idx="10"/>
          </p:nvPr>
        </p:nvSpPr>
        <p:spPr>
          <a:xfrm>
            <a:off x="393701" y="1800225"/>
            <a:ext cx="3854450" cy="472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393705" y="239717"/>
            <a:ext cx="3854449" cy="108537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74888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title, lef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"/>
          <p:cNvSpPr>
            <a:spLocks noGrp="1"/>
          </p:cNvSpPr>
          <p:nvPr>
            <p:ph sz="quarter" idx="10"/>
          </p:nvPr>
        </p:nvSpPr>
        <p:spPr>
          <a:xfrm>
            <a:off x="4643438" y="1800225"/>
            <a:ext cx="4105275" cy="472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393701" y="239717"/>
            <a:ext cx="7494588" cy="108537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2181492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title, lef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"/>
          <p:cNvSpPr>
            <a:spLocks noGrp="1"/>
          </p:cNvSpPr>
          <p:nvPr>
            <p:ph sz="quarter" idx="10"/>
          </p:nvPr>
        </p:nvSpPr>
        <p:spPr>
          <a:xfrm>
            <a:off x="4643438" y="1800225"/>
            <a:ext cx="4105275" cy="472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645029" y="239717"/>
            <a:ext cx="3243263" cy="108537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2331265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w small title, lef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"/>
          <p:cNvSpPr>
            <a:spLocks noGrp="1"/>
          </p:cNvSpPr>
          <p:nvPr>
            <p:ph sz="quarter" idx="10"/>
          </p:nvPr>
        </p:nvSpPr>
        <p:spPr>
          <a:xfrm>
            <a:off x="4643438" y="3545847"/>
            <a:ext cx="4105275" cy="29787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643438" y="1797530"/>
            <a:ext cx="4105275" cy="108537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386046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er, two horizontal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sz="quarter" idx="11"/>
          </p:nvPr>
        </p:nvSpPr>
        <p:spPr>
          <a:xfrm>
            <a:off x="393704" y="4010026"/>
            <a:ext cx="8355013" cy="2070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Content Placeholder 1"/>
          <p:cNvSpPr>
            <a:spLocks noGrp="1"/>
          </p:cNvSpPr>
          <p:nvPr>
            <p:ph sz="quarter" idx="10"/>
          </p:nvPr>
        </p:nvSpPr>
        <p:spPr>
          <a:xfrm>
            <a:off x="393701" y="1795463"/>
            <a:ext cx="8355012" cy="2070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93701" y="239717"/>
            <a:ext cx="7494588" cy="108537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013289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er, Content over two content p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quarter" idx="11"/>
          </p:nvPr>
        </p:nvSpPr>
        <p:spPr>
          <a:xfrm>
            <a:off x="4645025" y="4010026"/>
            <a:ext cx="4103688" cy="2070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/>
          </p:nvPr>
        </p:nvSpPr>
        <p:spPr>
          <a:xfrm>
            <a:off x="393701" y="4010026"/>
            <a:ext cx="4105275" cy="2070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"/>
          <p:cNvSpPr>
            <a:spLocks noGrp="1"/>
          </p:cNvSpPr>
          <p:nvPr>
            <p:ph idx="1"/>
          </p:nvPr>
        </p:nvSpPr>
        <p:spPr>
          <a:xfrm>
            <a:off x="396875" y="1795463"/>
            <a:ext cx="8351838" cy="2070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93701" y="239717"/>
            <a:ext cx="7494588" cy="108537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6975883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er, two content parts over conten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/>
          <p:cNvSpPr>
            <a:spLocks noGrp="1"/>
          </p:cNvSpPr>
          <p:nvPr>
            <p:ph sz="quarter" idx="12"/>
          </p:nvPr>
        </p:nvSpPr>
        <p:spPr>
          <a:xfrm>
            <a:off x="393704" y="4010026"/>
            <a:ext cx="8355013" cy="2070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sz="quarter" idx="10"/>
          </p:nvPr>
        </p:nvSpPr>
        <p:spPr>
          <a:xfrm>
            <a:off x="4645025" y="1795463"/>
            <a:ext cx="4103688" cy="2070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"/>
          <p:cNvSpPr>
            <a:spLocks noGrp="1"/>
          </p:cNvSpPr>
          <p:nvPr>
            <p:ph idx="1"/>
          </p:nvPr>
        </p:nvSpPr>
        <p:spPr>
          <a:xfrm>
            <a:off x="396877" y="1795463"/>
            <a:ext cx="4102100" cy="2070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93701" y="239717"/>
            <a:ext cx="7494588" cy="108537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2786417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3"/>
          <p:cNvSpPr>
            <a:spLocks noGrp="1"/>
          </p:cNvSpPr>
          <p:nvPr>
            <p:ph sz="quarter" idx="3"/>
          </p:nvPr>
        </p:nvSpPr>
        <p:spPr>
          <a:xfrm>
            <a:off x="4645029" y="4013207"/>
            <a:ext cx="4100513" cy="20669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/>
          </p:nvPr>
        </p:nvSpPr>
        <p:spPr>
          <a:xfrm>
            <a:off x="4645029" y="1795469"/>
            <a:ext cx="4100513" cy="2065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/>
          </p:nvPr>
        </p:nvSpPr>
        <p:spPr>
          <a:xfrm>
            <a:off x="393704" y="1795467"/>
            <a:ext cx="4098925" cy="42846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3701" y="239717"/>
            <a:ext cx="7494588" cy="108537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35442991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3"/>
          <p:cNvSpPr>
            <a:spLocks noGrp="1"/>
          </p:cNvSpPr>
          <p:nvPr>
            <p:ph sz="half" idx="3"/>
          </p:nvPr>
        </p:nvSpPr>
        <p:spPr>
          <a:xfrm>
            <a:off x="4648203" y="1795467"/>
            <a:ext cx="4100513" cy="42846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/>
          </p:nvPr>
        </p:nvSpPr>
        <p:spPr>
          <a:xfrm>
            <a:off x="396879" y="4013207"/>
            <a:ext cx="4098925" cy="20669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/>
          </p:nvPr>
        </p:nvSpPr>
        <p:spPr>
          <a:xfrm>
            <a:off x="396879" y="1795469"/>
            <a:ext cx="4098925" cy="2065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3701" y="239717"/>
            <a:ext cx="7494588" cy="108537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31526574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/>
          <p:cNvSpPr>
            <a:spLocks noGrp="1"/>
          </p:cNvSpPr>
          <p:nvPr>
            <p:ph sz="quarter" idx="4"/>
          </p:nvPr>
        </p:nvSpPr>
        <p:spPr>
          <a:xfrm>
            <a:off x="4648203" y="4022731"/>
            <a:ext cx="4100513" cy="20669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/>
          </p:nvPr>
        </p:nvSpPr>
        <p:spPr>
          <a:xfrm>
            <a:off x="396879" y="4022731"/>
            <a:ext cx="4098925" cy="20669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/>
          </p:nvPr>
        </p:nvSpPr>
        <p:spPr>
          <a:xfrm>
            <a:off x="4648203" y="1804993"/>
            <a:ext cx="4100513" cy="2065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/>
          </p:nvPr>
        </p:nvSpPr>
        <p:spPr>
          <a:xfrm>
            <a:off x="396879" y="1804993"/>
            <a:ext cx="4098925" cy="2065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393701" y="239717"/>
            <a:ext cx="7494588" cy="108537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13701124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3701" y="239717"/>
            <a:ext cx="7494588" cy="108537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="" xmlns:p14="http://schemas.microsoft.com/office/powerpoint/2010/main" val="42887175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76468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txtfooterCopy"/>
          <p:cNvSpPr txBox="1">
            <a:spLocks noChangeArrowheads="1"/>
          </p:cNvSpPr>
          <p:nvPr/>
        </p:nvSpPr>
        <p:spPr bwMode="auto">
          <a:xfrm>
            <a:off x="395288" y="6524625"/>
            <a:ext cx="7399338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1998" tIns="45719" rIns="71998" bIns="45719"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en-US" sz="800" dirty="0" err="1" smtClean="0">
                <a:latin typeface="Calibri" charset="0"/>
              </a:rPr>
              <a:t>CoRE</a:t>
            </a:r>
            <a:r>
              <a:rPr lang="en-US" sz="800" dirty="0" smtClean="0">
                <a:latin typeface="Calibri" charset="0"/>
              </a:rPr>
              <a:t> Interim</a:t>
            </a:r>
            <a:r>
              <a:rPr lang="en-US" sz="800" baseline="0" dirty="0" smtClean="0">
                <a:latin typeface="Calibri" charset="0"/>
              </a:rPr>
              <a:t> Meeting</a:t>
            </a:r>
            <a:r>
              <a:rPr lang="en-US" sz="800" b="0" i="0" u="none" dirty="0" smtClean="0">
                <a:solidFill>
                  <a:srgbClr val="87888A"/>
                </a:solidFill>
              </a:rPr>
              <a:t> |  2021-01-21  </a:t>
            </a:r>
            <a:r>
              <a:rPr lang="en-US" sz="800" b="0" i="0" u="none" dirty="0">
                <a:solidFill>
                  <a:srgbClr val="87888A"/>
                </a:solidFill>
              </a:rPr>
              <a:t>|  Page </a:t>
            </a:r>
            <a:fld id="{CC676CB8-5833-4DBC-A3F6-F6AB38C0623C}" type="slidenum">
              <a:rPr lang="en-US" sz="800" b="0" i="0" u="none" smtClean="0">
                <a:solidFill>
                  <a:srgbClr val="87888A"/>
                </a:solidFill>
              </a:rPr>
              <a:pPr algn="l" eaLnBrk="1" hangingPunct="1">
                <a:spcBef>
                  <a:spcPct val="50000"/>
                </a:spcBef>
              </a:pPr>
              <a:t>‹N›</a:t>
            </a:fld>
            <a:endParaRPr lang="en-US" sz="800" b="0" i="0" u="none" dirty="0">
              <a:solidFill>
                <a:srgbClr val="87888A"/>
              </a:solidFill>
            </a:endParaRPr>
          </a:p>
        </p:txBody>
      </p:sp>
      <p:sp>
        <p:nvSpPr>
          <p:cNvPr id="1029" name="Content_SM"/>
          <p:cNvSpPr>
            <a:spLocks noGrp="1" noChangeArrowheads="1"/>
          </p:cNvSpPr>
          <p:nvPr>
            <p:ph type="body" idx="1"/>
          </p:nvPr>
        </p:nvSpPr>
        <p:spPr bwMode="auto">
          <a:xfrm>
            <a:off x="396479" y="1800229"/>
            <a:ext cx="8352234" cy="385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71998" tIns="0" rIns="71998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30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394098" y="239717"/>
            <a:ext cx="7493794" cy="1085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71998" tIns="0" rIns="71998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Add Header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</p:sldLayoutIdLst>
  <p:hf sldNum="0" hdr="0" ftr="0" dt="0"/>
  <p:txStyles>
    <p:titleStyle>
      <a:lvl1pPr algn="l" rtl="0" eaLnBrk="0" fontAlgn="base" hangingPunct="0">
        <a:lnSpc>
          <a:spcPct val="75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/>
          <a:ea typeface="ＭＳ Ｐゴシック" charset="0"/>
          <a:cs typeface="Calibri"/>
        </a:defRPr>
      </a:lvl1pPr>
      <a:lvl2pPr algn="l" rtl="0" eaLnBrk="0" fontAlgn="base" hangingPunct="0">
        <a:lnSpc>
          <a:spcPct val="75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  <a:ea typeface="ＭＳ Ｐゴシック" charset="0"/>
        </a:defRPr>
      </a:lvl2pPr>
      <a:lvl3pPr algn="l" rtl="0" eaLnBrk="0" fontAlgn="base" hangingPunct="0">
        <a:lnSpc>
          <a:spcPct val="75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  <a:ea typeface="ＭＳ Ｐゴシック" charset="0"/>
        </a:defRPr>
      </a:lvl3pPr>
      <a:lvl4pPr algn="l" rtl="0" eaLnBrk="0" fontAlgn="base" hangingPunct="0">
        <a:lnSpc>
          <a:spcPct val="75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  <a:ea typeface="ＭＳ Ｐゴシック" charset="0"/>
        </a:defRPr>
      </a:lvl4pPr>
      <a:lvl5pPr algn="l" rtl="0" eaLnBrk="0" fontAlgn="base" hangingPunct="0">
        <a:lnSpc>
          <a:spcPct val="75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  <a:ea typeface="ＭＳ Ｐゴシック" charset="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Capital TT" pitchFamily="2" charset="0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Capital TT" pitchFamily="2" charset="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Capital TT" pitchFamily="2" charset="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Capital TT" pitchFamily="2" charset="0"/>
        </a:defRPr>
      </a:lvl9pPr>
    </p:titleStyle>
    <p:bodyStyle>
      <a:lvl1pPr marL="176209" indent="-176209" algn="l" rtl="0" eaLnBrk="0" fontAlgn="base" hangingPunct="0">
        <a:spcBef>
          <a:spcPct val="20000"/>
        </a:spcBef>
        <a:spcAft>
          <a:spcPct val="0"/>
        </a:spcAft>
        <a:buClr>
          <a:srgbClr val="00A9D4"/>
        </a:buClr>
        <a:buFont typeface="Arial" charset="0"/>
        <a:buChar char="›"/>
        <a:defRPr sz="2400">
          <a:solidFill>
            <a:schemeClr val="tx1"/>
          </a:solidFill>
          <a:latin typeface="+mn-lt"/>
          <a:ea typeface="ＭＳ Ｐゴシック" charset="0"/>
          <a:cs typeface="+mn-cs"/>
        </a:defRPr>
      </a:lvl1pPr>
      <a:lvl2pPr marL="533387" indent="-177796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Ericsson Capital TT" charset="0"/>
        <a:buChar char="–"/>
        <a:defRPr sz="2000">
          <a:solidFill>
            <a:schemeClr val="tx1"/>
          </a:solidFill>
          <a:latin typeface="+mn-lt"/>
          <a:ea typeface="ＭＳ Ｐゴシック" charset="0"/>
        </a:defRPr>
      </a:lvl2pPr>
      <a:lvl3pPr marL="892152" indent="-179384" algn="l" rtl="0" eaLnBrk="0" fontAlgn="base" hangingPunct="0">
        <a:spcBef>
          <a:spcPct val="20000"/>
        </a:spcBef>
        <a:spcAft>
          <a:spcPct val="0"/>
        </a:spcAft>
        <a:buClr>
          <a:srgbClr val="92CCE5"/>
        </a:buClr>
        <a:buFont typeface="Ericsson Capital TT" charset="0"/>
        <a:buChar char="›"/>
        <a:defRPr sz="2000">
          <a:solidFill>
            <a:schemeClr val="tx1"/>
          </a:solidFill>
          <a:latin typeface="+mn-lt"/>
          <a:ea typeface="ＭＳ Ｐゴシック" charset="0"/>
        </a:defRPr>
      </a:lvl3pPr>
      <a:lvl4pPr marL="1252507" indent="-18097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Ericsson Capital TT" charset="0"/>
        <a:buChar char="-"/>
        <a:defRPr sz="2000">
          <a:solidFill>
            <a:schemeClr val="tx1"/>
          </a:solidFill>
          <a:latin typeface="+mn-lt"/>
          <a:ea typeface="ＭＳ Ｐゴシック" charset="0"/>
        </a:defRPr>
      </a:lvl4pPr>
      <a:lvl5pPr marL="1614448" indent="-18097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Ericsson Capital TT" charset="0"/>
        <a:buChar char="›"/>
        <a:defRPr sz="2000">
          <a:solidFill>
            <a:schemeClr val="tx1"/>
          </a:solidFill>
          <a:latin typeface="+mn-lt"/>
          <a:ea typeface="ＭＳ Ｐゴシック" charset="0"/>
        </a:defRPr>
      </a:lvl5pPr>
      <a:lvl6pPr marL="2071636" indent="-18097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Ericsson Capital TT" pitchFamily="2" charset="0"/>
        <a:buChar char="›"/>
        <a:defRPr sz="2000">
          <a:solidFill>
            <a:schemeClr val="tx1"/>
          </a:solidFill>
          <a:latin typeface="+mn-lt"/>
        </a:defRPr>
      </a:lvl6pPr>
      <a:lvl7pPr marL="2528825" indent="-18097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Ericsson Capital TT" pitchFamily="2" charset="0"/>
        <a:buChar char="›"/>
        <a:defRPr sz="2000">
          <a:solidFill>
            <a:schemeClr val="tx1"/>
          </a:solidFill>
          <a:latin typeface="+mn-lt"/>
        </a:defRPr>
      </a:lvl7pPr>
      <a:lvl8pPr marL="2986013" indent="-18097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Ericsson Capital TT" pitchFamily="2" charset="0"/>
        <a:buChar char="›"/>
        <a:defRPr sz="2000">
          <a:solidFill>
            <a:schemeClr val="tx1"/>
          </a:solidFill>
          <a:latin typeface="+mn-lt"/>
        </a:defRPr>
      </a:lvl8pPr>
      <a:lvl9pPr marL="3443202" indent="-18097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Ericsson Capital TT" pitchFamily="2" charset="0"/>
        <a:buChar char="›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hrysn/aiocoap" TargetMode="External"/><Relationship Id="rId2" Type="http://schemas.openxmlformats.org/officeDocument/2006/relationships/hyperlink" Target="https://gitlab.com/chrysn/core-cachable-oscore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Title 3"/>
          <p:cNvSpPr>
            <a:spLocks noGrp="1"/>
          </p:cNvSpPr>
          <p:nvPr>
            <p:ph type="ctrTitle"/>
          </p:nvPr>
        </p:nvSpPr>
        <p:spPr>
          <a:xfrm>
            <a:off x="381000" y="1507055"/>
            <a:ext cx="8351838" cy="5041371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sz="5400" dirty="0" err="1" smtClean="0">
                <a:latin typeface="Calibri" charset="0"/>
              </a:rPr>
              <a:t>Cachable</a:t>
            </a:r>
            <a:r>
              <a:rPr lang="en-US" sz="5400" dirty="0" smtClean="0">
                <a:latin typeface="Calibri" charset="0"/>
              </a:rPr>
              <a:t> OSCORE</a:t>
            </a:r>
            <a:r>
              <a:rPr lang="en-US" dirty="0">
                <a:latin typeface="Calibri" charset="0"/>
              </a:rPr>
              <a:t/>
            </a:r>
            <a:br>
              <a:rPr lang="en-US" dirty="0">
                <a:latin typeface="Calibri" charset="0"/>
              </a:rPr>
            </a:br>
            <a:r>
              <a:rPr lang="en-US" sz="2800" dirty="0">
                <a:latin typeface="Calibri" charset="0"/>
              </a:rPr>
              <a:t/>
            </a:r>
            <a:br>
              <a:rPr lang="en-US" sz="2800" dirty="0">
                <a:latin typeface="Calibri" charset="0"/>
              </a:rPr>
            </a:br>
            <a:r>
              <a:rPr lang="en-US" sz="2800" dirty="0" smtClean="0">
                <a:latin typeface="Calibri" charset="0"/>
              </a:rPr>
              <a:t/>
            </a:r>
            <a:br>
              <a:rPr lang="en-US" sz="2800" dirty="0" smtClean="0">
                <a:latin typeface="Calibri" charset="0"/>
              </a:rPr>
            </a:br>
            <a:r>
              <a:rPr lang="en-US" sz="2800" dirty="0" smtClean="0">
                <a:latin typeface="Arial" pitchFamily="34" charset="0"/>
                <a:cs typeface="Arial" pitchFamily="34" charset="0"/>
              </a:rPr>
              <a:t>Work in progress towards</a:t>
            </a:r>
            <a:r>
              <a:rPr lang="en-US" sz="1100" dirty="0" smtClean="0">
                <a:latin typeface="Arial" pitchFamily="34" charset="0"/>
                <a:cs typeface="Arial" pitchFamily="34" charset="0"/>
              </a:rPr>
              <a:t/>
            </a:r>
            <a:br>
              <a:rPr lang="en-US" sz="1100" dirty="0" smtClean="0">
                <a:latin typeface="Arial" pitchFamily="34" charset="0"/>
                <a:cs typeface="Arial" pitchFamily="34" charset="0"/>
              </a:rPr>
            </a:br>
            <a:r>
              <a:rPr lang="en-US" sz="1100" dirty="0" smtClean="0">
                <a:latin typeface="Calibri" charset="0"/>
              </a:rPr>
              <a:t/>
            </a:r>
            <a:br>
              <a:rPr lang="en-US" sz="1100" dirty="0" smtClean="0">
                <a:latin typeface="Calibri" charset="0"/>
              </a:rPr>
            </a:br>
            <a:r>
              <a:rPr lang="en-US" sz="2800" i="1" dirty="0" smtClean="0"/>
              <a:t>draft-amsuess-core-cachable-oscore-01</a:t>
            </a:r>
            <a:r>
              <a:rPr lang="en-US" sz="2800" dirty="0">
                <a:latin typeface="Calibri" charset="0"/>
              </a:rPr>
              <a:t/>
            </a:r>
            <a:br>
              <a:rPr lang="en-US" sz="2800" dirty="0">
                <a:latin typeface="Calibri" charset="0"/>
              </a:rPr>
            </a:br>
            <a:r>
              <a:rPr lang="en-US" sz="2800" dirty="0">
                <a:latin typeface="Calibri" charset="0"/>
              </a:rPr>
              <a:t/>
            </a:r>
            <a:br>
              <a:rPr lang="en-US" sz="2800" dirty="0">
                <a:latin typeface="Calibri" charset="0"/>
              </a:rPr>
            </a:br>
            <a:r>
              <a:rPr lang="en-US" sz="2800" dirty="0">
                <a:latin typeface="Calibri" charset="0"/>
              </a:rPr>
              <a:t/>
            </a:r>
            <a:br>
              <a:rPr lang="en-US" sz="2800" dirty="0">
                <a:latin typeface="Calibri" charset="0"/>
              </a:rPr>
            </a:br>
            <a:r>
              <a:rPr lang="en-US" sz="2800" dirty="0" smtClean="0">
                <a:latin typeface="Calibri" charset="0"/>
              </a:rPr>
              <a:t>Christian </a:t>
            </a:r>
            <a:r>
              <a:rPr lang="en-US" sz="2800" dirty="0" err="1" smtClean="0">
                <a:latin typeface="Calibri" charset="0"/>
              </a:rPr>
              <a:t>Amsüss</a:t>
            </a:r>
            <a:r>
              <a:rPr lang="en-US" sz="2800" dirty="0" smtClean="0">
                <a:latin typeface="Calibri" charset="0"/>
              </a:rPr>
              <a:t/>
            </a:r>
            <a:br>
              <a:rPr lang="en-US" sz="2800" dirty="0" smtClean="0">
                <a:latin typeface="Calibri" charset="0"/>
              </a:rPr>
            </a:br>
            <a:r>
              <a:rPr lang="en-US" sz="2800" dirty="0" smtClean="0">
                <a:latin typeface="Calibri" charset="0"/>
              </a:rPr>
              <a:t> Marco Tiloca, RISE</a:t>
            </a:r>
            <a:r>
              <a:rPr lang="en-US" sz="3100" dirty="0">
                <a:latin typeface="Calibri" charset="0"/>
              </a:rPr>
              <a:t/>
            </a:r>
            <a:br>
              <a:rPr lang="en-US" sz="3100" dirty="0">
                <a:latin typeface="Calibri" charset="0"/>
              </a:rPr>
            </a:br>
            <a:r>
              <a:rPr lang="en-US" sz="3100" dirty="0" smtClean="0">
                <a:latin typeface="Calibri" charset="0"/>
              </a:rPr>
              <a:t/>
            </a:r>
            <a:br>
              <a:rPr lang="en-US" sz="3100" dirty="0" smtClean="0">
                <a:latin typeface="Calibri" charset="0"/>
              </a:rPr>
            </a:br>
            <a:r>
              <a:rPr lang="en-US" sz="3100" dirty="0" smtClean="0">
                <a:latin typeface="Calibri" charset="0"/>
              </a:rPr>
              <a:t/>
            </a:r>
            <a:br>
              <a:rPr lang="en-US" sz="3100" dirty="0" smtClean="0">
                <a:latin typeface="Calibri" charset="0"/>
              </a:rPr>
            </a:br>
            <a:r>
              <a:rPr lang="en-US" sz="3100" dirty="0">
                <a:latin typeface="Calibri" charset="0"/>
              </a:rPr>
              <a:t/>
            </a:r>
            <a:br>
              <a:rPr lang="en-US" sz="3100" dirty="0">
                <a:latin typeface="Calibri" charset="0"/>
              </a:rPr>
            </a:br>
            <a:r>
              <a:rPr lang="en-US" sz="2800" dirty="0" err="1" smtClean="0">
                <a:latin typeface="Calibri" charset="0"/>
              </a:rPr>
              <a:t>CoRE</a:t>
            </a:r>
            <a:r>
              <a:rPr lang="en-US" sz="2800" dirty="0" smtClean="0">
                <a:latin typeface="Calibri" charset="0"/>
              </a:rPr>
              <a:t> Interim Meeting, January 21</a:t>
            </a:r>
            <a:r>
              <a:rPr lang="en-US" sz="2800" baseline="30000" dirty="0" smtClean="0">
                <a:latin typeface="Calibri" charset="0"/>
              </a:rPr>
              <a:t>st</a:t>
            </a:r>
            <a:r>
              <a:rPr lang="en-US" sz="2800" dirty="0" smtClean="0">
                <a:latin typeface="Calibri" charset="0"/>
              </a:rPr>
              <a:t>, 2021</a:t>
            </a:r>
            <a:endParaRPr lang="en-US" sz="2800" dirty="0">
              <a:latin typeface="Calibri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="" xmlns:p14="http://schemas.microsoft.com/office/powerpoint/2010/main" val="3260047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B84C4530-E65E-4A54-B0E8-E5EB5868B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879" y="1249407"/>
            <a:ext cx="8351839" cy="4876103"/>
          </a:xfrm>
        </p:spPr>
        <p:txBody>
          <a:bodyPr/>
          <a:lstStyle/>
          <a:p>
            <a:pPr marL="0" indent="0"/>
            <a:r>
              <a:rPr lang="en-US" dirty="0" smtClean="0"/>
              <a:t> Enable proxies to cache OSCORE responses</a:t>
            </a:r>
          </a:p>
          <a:p>
            <a:pPr marL="357178" lvl="1" indent="0"/>
            <a:r>
              <a:rPr lang="en-US" dirty="0" smtClean="0"/>
              <a:t> Message protection with Group OSCORE</a:t>
            </a:r>
          </a:p>
          <a:p>
            <a:pPr marL="357178" lvl="1" indent="0"/>
            <a:r>
              <a:rPr lang="en-US" dirty="0" smtClean="0"/>
              <a:t> Clients and server have to already be group members</a:t>
            </a:r>
          </a:p>
          <a:p>
            <a:pPr marL="357178" lvl="1" indent="0"/>
            <a:r>
              <a:rPr lang="en-US" dirty="0" smtClean="0"/>
              <a:t> The proxy is </a:t>
            </a:r>
            <a:r>
              <a:rPr lang="en-US" dirty="0" err="1" smtClean="0"/>
              <a:t>untrusted</a:t>
            </a:r>
            <a:r>
              <a:rPr lang="en-US" dirty="0" smtClean="0"/>
              <a:t> and not a group member</a:t>
            </a:r>
          </a:p>
          <a:p>
            <a:pPr>
              <a:buNone/>
            </a:pPr>
            <a:endParaRPr lang="en-US" sz="2200" dirty="0" smtClean="0"/>
          </a:p>
          <a:p>
            <a:r>
              <a:rPr lang="en-US" dirty="0" smtClean="0"/>
              <a:t>Clients need a same Group OSCORE “consensus request”</a:t>
            </a:r>
          </a:p>
          <a:p>
            <a:pPr lvl="1"/>
            <a:r>
              <a:rPr lang="en-US" dirty="0" smtClean="0"/>
              <a:t> This will hit a cache entry, for the proxy to return a cached response</a:t>
            </a:r>
            <a:endParaRPr lang="en-US" sz="1800" dirty="0" smtClean="0"/>
          </a:p>
          <a:p>
            <a:pPr>
              <a:buNone/>
            </a:pPr>
            <a:endParaRPr lang="en-US" sz="2200" dirty="0" smtClean="0"/>
          </a:p>
          <a:p>
            <a:r>
              <a:rPr lang="en-US" dirty="0" smtClean="0"/>
              <a:t>Done a major revision of the mechanics</a:t>
            </a:r>
            <a:endParaRPr lang="en-US" sz="2000" dirty="0" smtClean="0"/>
          </a:p>
          <a:p>
            <a:pPr lvl="1"/>
            <a:r>
              <a:rPr lang="en-US" dirty="0" smtClean="0"/>
              <a:t>Following the discussion at the </a:t>
            </a:r>
            <a:r>
              <a:rPr lang="en-US" dirty="0" err="1" smtClean="0"/>
              <a:t>CoRE</a:t>
            </a:r>
            <a:r>
              <a:rPr lang="en-US" dirty="0" smtClean="0"/>
              <a:t> interim in November 2020</a:t>
            </a:r>
          </a:p>
          <a:p>
            <a:pPr lvl="1"/>
            <a:r>
              <a:rPr lang="en-US" dirty="0" smtClean="0"/>
              <a:t>Aligned with the upcoming version -11 of Group OSCORE</a:t>
            </a:r>
          </a:p>
          <a:p>
            <a:pPr>
              <a:buNone/>
            </a:pPr>
            <a:endParaRPr lang="en-US" dirty="0" smtClean="0"/>
          </a:p>
          <a:p>
            <a:pPr lvl="1"/>
            <a:endParaRPr lang="en-US" sz="2200" dirty="0" smtClean="0"/>
          </a:p>
          <a:p>
            <a:pPr lvl="1"/>
            <a:endParaRPr lang="en-US" sz="2200" dirty="0"/>
          </a:p>
          <a:p>
            <a:endParaRPr lang="en-US" dirty="0"/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="" xmlns:a16="http://schemas.microsoft.com/office/drawing/2014/main" id="{F988C34A-93D4-4AAC-9F3B-66C87E1E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Recap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430433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B84C4530-E65E-4A54-B0E8-E5EB5868B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879" y="1249407"/>
            <a:ext cx="8747121" cy="4876103"/>
          </a:xfrm>
        </p:spPr>
        <p:txBody>
          <a:bodyPr/>
          <a:lstStyle/>
          <a:p>
            <a:pPr marL="0" indent="0"/>
            <a:r>
              <a:rPr lang="en-US" dirty="0" smtClean="0"/>
              <a:t> Deterministic client – C*</a:t>
            </a:r>
          </a:p>
          <a:p>
            <a:pPr lvl="1"/>
            <a:r>
              <a:rPr lang="en-US" dirty="0" smtClean="0"/>
              <a:t> Fictitious group member, setup by the Group Manager</a:t>
            </a:r>
          </a:p>
          <a:p>
            <a:pPr lvl="1"/>
            <a:r>
              <a:rPr lang="en-US" dirty="0" smtClean="0"/>
              <a:t> No Sequence Number, no Recipient Context, </a:t>
            </a:r>
            <a:r>
              <a:rPr lang="en-US" u="sng" dirty="0" smtClean="0"/>
              <a:t>no public/private key</a:t>
            </a:r>
          </a:p>
          <a:p>
            <a:pPr>
              <a:buNone/>
            </a:pPr>
            <a:endParaRPr lang="en-US" sz="2200" dirty="0" smtClean="0"/>
          </a:p>
          <a:p>
            <a:r>
              <a:rPr lang="en-US" dirty="0" smtClean="0"/>
              <a:t>Clients obtain information about C*</a:t>
            </a:r>
          </a:p>
          <a:p>
            <a:pPr lvl="1"/>
            <a:r>
              <a:rPr lang="en-US" dirty="0" smtClean="0"/>
              <a:t> Sender ID (</a:t>
            </a:r>
            <a:r>
              <a:rPr lang="en-US" dirty="0" smtClean="0">
                <a:sym typeface="Wingdings" pitchFamily="2" charset="2"/>
              </a:rPr>
              <a:t> Sender Key), Hash algorithm </a:t>
            </a:r>
            <a:r>
              <a:rPr lang="en-US" i="1" dirty="0" smtClean="0">
                <a:sym typeface="Wingdings" pitchFamily="2" charset="2"/>
              </a:rPr>
              <a:t>h</a:t>
            </a:r>
            <a:r>
              <a:rPr lang="en-US" dirty="0" smtClean="0">
                <a:sym typeface="Wingdings" pitchFamily="2" charset="2"/>
              </a:rPr>
              <a:t>(·)</a:t>
            </a:r>
            <a:endParaRPr lang="en-US" dirty="0" smtClean="0"/>
          </a:p>
          <a:p>
            <a:pPr lvl="1"/>
            <a:r>
              <a:rPr lang="en-US" dirty="0" smtClean="0"/>
              <a:t> From the Group Manager, e.g. when joining the group</a:t>
            </a:r>
            <a:endParaRPr lang="en-US" sz="1800" dirty="0" smtClean="0"/>
          </a:p>
          <a:p>
            <a:pPr>
              <a:buNone/>
            </a:pPr>
            <a:endParaRPr lang="en-US" sz="2200" dirty="0" smtClean="0"/>
          </a:p>
          <a:p>
            <a:r>
              <a:rPr lang="en-US" dirty="0" smtClean="0"/>
              <a:t>Each client can act as if it was C*</a:t>
            </a:r>
          </a:p>
          <a:p>
            <a:pPr lvl="1"/>
            <a:r>
              <a:rPr lang="en-US" dirty="0" smtClean="0"/>
              <a:t> Given a same plain </a:t>
            </a:r>
            <a:r>
              <a:rPr lang="en-US" dirty="0" err="1" smtClean="0"/>
              <a:t>CoAP</a:t>
            </a:r>
            <a:r>
              <a:rPr lang="en-US" dirty="0" smtClean="0"/>
              <a:t> request M …</a:t>
            </a:r>
          </a:p>
          <a:p>
            <a:pPr lvl="1"/>
            <a:r>
              <a:rPr lang="en-US" dirty="0" smtClean="0"/>
              <a:t> each client computes a same protected </a:t>
            </a:r>
            <a:r>
              <a:rPr lang="en-US" u="sng" dirty="0" smtClean="0"/>
              <a:t>Deterministic Request</a:t>
            </a:r>
          </a:p>
          <a:p>
            <a:pPr lvl="1"/>
            <a:endParaRPr lang="en-US" sz="2200" dirty="0" smtClean="0"/>
          </a:p>
          <a:p>
            <a:r>
              <a:rPr lang="en-US" dirty="0" smtClean="0"/>
              <a:t>The Deterministic Request is sent to the server</a:t>
            </a:r>
            <a:endParaRPr lang="en-US" dirty="0"/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="" xmlns:a16="http://schemas.microsoft.com/office/drawing/2014/main" id="{F988C34A-93D4-4AAC-9F3B-66C87E1E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Key concepts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430433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B84C4530-E65E-4A54-B0E8-E5EB5868B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879" y="1249407"/>
            <a:ext cx="8747121" cy="4876103"/>
          </a:xfrm>
        </p:spPr>
        <p:txBody>
          <a:bodyPr/>
          <a:lstStyle/>
          <a:p>
            <a:pPr marL="0" indent="0"/>
            <a:r>
              <a:rPr lang="en-US" dirty="0" smtClean="0"/>
              <a:t> Protect message M using the </a:t>
            </a:r>
            <a:r>
              <a:rPr lang="en-US" u="sng" dirty="0" err="1" smtClean="0"/>
              <a:t>pairwise</a:t>
            </a:r>
            <a:r>
              <a:rPr lang="en-US" u="sng" dirty="0" smtClean="0"/>
              <a:t> mode</a:t>
            </a:r>
            <a:r>
              <a:rPr lang="en-US" dirty="0" smtClean="0"/>
              <a:t> of Group OSCORE</a:t>
            </a:r>
          </a:p>
          <a:p>
            <a:endParaRPr lang="en-US" dirty="0" smtClean="0"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 smtClean="0">
                <a:sym typeface="Wingdings" panose="05000000000000000000" pitchFamily="2" charset="2"/>
              </a:rPr>
              <a:t>In the OSCORE option, the AAD and the AEAD nonce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 Use the Sender ID of the Deterministic Client C*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 Use 0 as Partial IV</a:t>
            </a:r>
          </a:p>
          <a:p>
            <a:endParaRPr lang="en-US" dirty="0" smtClean="0"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2"/>
            </a:pPr>
            <a:r>
              <a:rPr lang="en-US" dirty="0" smtClean="0">
                <a:sym typeface="Wingdings" panose="05000000000000000000" pitchFamily="2" charset="2"/>
              </a:rPr>
              <a:t>Compute a hash </a:t>
            </a:r>
            <a:r>
              <a:rPr 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H</a:t>
            </a:r>
            <a:r>
              <a:rPr lang="en-US" dirty="0" smtClean="0">
                <a:sym typeface="Wingdings" panose="05000000000000000000" pitchFamily="2" charset="2"/>
              </a:rPr>
              <a:t> using </a:t>
            </a:r>
            <a:r>
              <a:rPr lang="en-US" i="1" dirty="0" smtClean="0">
                <a:sym typeface="Wingdings" panose="05000000000000000000" pitchFamily="2" charset="2"/>
              </a:rPr>
              <a:t>h</a:t>
            </a:r>
            <a:r>
              <a:rPr lang="en-US" dirty="0" smtClean="0">
                <a:sym typeface="Wingdings" panose="05000000000000000000" pitchFamily="2" charset="2"/>
              </a:rPr>
              <a:t>(·) as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 </a:t>
            </a:r>
            <a:r>
              <a:rPr 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H</a:t>
            </a:r>
            <a:r>
              <a:rPr lang="en-US" dirty="0" smtClean="0">
                <a:sym typeface="Wingdings" panose="05000000000000000000" pitchFamily="2" charset="2"/>
              </a:rPr>
              <a:t> = h( Sender Key of C* || AAD || COSE plaintext )</a:t>
            </a:r>
          </a:p>
          <a:p>
            <a:endParaRPr lang="en-US" dirty="0" smtClean="0"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3"/>
            </a:pPr>
            <a:r>
              <a:rPr lang="en-US" dirty="0" smtClean="0">
                <a:sym typeface="Wingdings" panose="05000000000000000000" pitchFamily="2" charset="2"/>
              </a:rPr>
              <a:t>Derive the </a:t>
            </a:r>
            <a:r>
              <a:rPr lang="en-US" dirty="0" err="1" smtClean="0">
                <a:sym typeface="Wingdings" panose="05000000000000000000" pitchFamily="2" charset="2"/>
              </a:rPr>
              <a:t>pairwise</a:t>
            </a:r>
            <a:r>
              <a:rPr lang="en-US" dirty="0" smtClean="0">
                <a:sym typeface="Wingdings" panose="05000000000000000000" pitchFamily="2" charset="2"/>
              </a:rPr>
              <a:t> encryption key </a:t>
            </a:r>
            <a:r>
              <a:rPr lang="en-US" dirty="0" smtClean="0">
                <a:solidFill>
                  <a:srgbClr val="00B050"/>
                </a:solidFill>
                <a:sym typeface="Wingdings" panose="05000000000000000000" pitchFamily="2" charset="2"/>
              </a:rPr>
              <a:t>K</a:t>
            </a:r>
            <a:r>
              <a:rPr lang="en-US" dirty="0" smtClean="0">
                <a:sym typeface="Wingdings" panose="05000000000000000000" pitchFamily="2" charset="2"/>
              </a:rPr>
              <a:t> as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 </a:t>
            </a:r>
            <a:r>
              <a:rPr lang="en-US" dirty="0" smtClean="0">
                <a:solidFill>
                  <a:srgbClr val="00B050"/>
                </a:solidFill>
                <a:sym typeface="Wingdings" panose="05000000000000000000" pitchFamily="2" charset="2"/>
              </a:rPr>
              <a:t>K</a:t>
            </a:r>
            <a:r>
              <a:rPr lang="en-US" dirty="0" smtClean="0">
                <a:sym typeface="Wingdings" panose="05000000000000000000" pitchFamily="2" charset="2"/>
              </a:rPr>
              <a:t> = HKDF( Sender Key of C*, </a:t>
            </a:r>
            <a:r>
              <a:rPr 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H</a:t>
            </a:r>
            <a:r>
              <a:rPr lang="en-US" dirty="0" smtClean="0">
                <a:sym typeface="Wingdings" panose="05000000000000000000" pitchFamily="2" charset="2"/>
              </a:rPr>
              <a:t> , info, L)    // </a:t>
            </a:r>
            <a:r>
              <a:rPr lang="en-US" i="1" dirty="0" smtClean="0">
                <a:sym typeface="Wingdings" panose="05000000000000000000" pitchFamily="2" charset="2"/>
              </a:rPr>
              <a:t>No real </a:t>
            </a:r>
            <a:r>
              <a:rPr lang="en-US" i="1" dirty="0" err="1" smtClean="0">
                <a:sym typeface="Wingdings" panose="05000000000000000000" pitchFamily="2" charset="2"/>
              </a:rPr>
              <a:t>Diffie</a:t>
            </a:r>
            <a:r>
              <a:rPr lang="en-US" i="1" dirty="0" smtClean="0">
                <a:sym typeface="Wingdings" panose="05000000000000000000" pitchFamily="2" charset="2"/>
              </a:rPr>
              <a:t>-Hellman secret here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 ‘info.id’ takes the Sender ID of C* as value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="" xmlns:a16="http://schemas.microsoft.com/office/drawing/2014/main" id="{F988C34A-93D4-4AAC-9F3B-66C87E1E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 side (1/2)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430433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B84C4530-E65E-4A54-B0E8-E5EB5868B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879" y="1249407"/>
            <a:ext cx="8747121" cy="4876103"/>
          </a:xfrm>
        </p:spPr>
        <p:txBody>
          <a:bodyPr/>
          <a:lstStyle/>
          <a:p>
            <a:pPr marL="457200" indent="-457200">
              <a:buFont typeface="+mj-lt"/>
              <a:buAutoNum type="arabicPeriod" startAt="4"/>
            </a:pPr>
            <a:r>
              <a:rPr lang="en-US" dirty="0" smtClean="0">
                <a:sym typeface="Wingdings" panose="05000000000000000000" pitchFamily="2" charset="2"/>
              </a:rPr>
              <a:t>Include the new Request-Hash option: class U, value set to </a:t>
            </a:r>
            <a:r>
              <a:rPr 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H</a:t>
            </a:r>
          </a:p>
          <a:p>
            <a:pPr marL="457200" indent="-457200">
              <a:buFont typeface="+mj-lt"/>
              <a:buAutoNum type="arabicPeriod" startAt="4"/>
            </a:pPr>
            <a:endParaRPr lang="en-US" dirty="0" smtClean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4"/>
            </a:pPr>
            <a:endParaRPr lang="en-US" dirty="0" smtClean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4"/>
            </a:pPr>
            <a:endParaRPr lang="en-US" dirty="0" smtClean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4"/>
            </a:pPr>
            <a:endParaRPr lang="en-US" dirty="0" smtClean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4"/>
            </a:pPr>
            <a:r>
              <a:rPr lang="en-US" dirty="0" smtClean="0">
                <a:sym typeface="Wingdings" panose="05000000000000000000" pitchFamily="2" charset="2"/>
              </a:rPr>
              <a:t>In the AAD, set the value of ‘</a:t>
            </a:r>
            <a:r>
              <a:rPr lang="en-US" dirty="0" err="1" smtClean="0">
                <a:sym typeface="Wingdings" panose="05000000000000000000" pitchFamily="2" charset="2"/>
              </a:rPr>
              <a:t>request_kid</a:t>
            </a:r>
            <a:r>
              <a:rPr lang="en-US" dirty="0" smtClean="0">
                <a:sym typeface="Wingdings" panose="05000000000000000000" pitchFamily="2" charset="2"/>
              </a:rPr>
              <a:t>’ to </a:t>
            </a:r>
            <a:r>
              <a:rPr 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H</a:t>
            </a:r>
            <a:r>
              <a:rPr lang="en-US" dirty="0" smtClean="0">
                <a:sym typeface="Wingdings" panose="05000000000000000000" pitchFamily="2" charset="2"/>
              </a:rPr>
              <a:t>.</a:t>
            </a:r>
          </a:p>
          <a:p>
            <a:pPr marL="457200" indent="-457200">
              <a:buFont typeface="+mj-lt"/>
              <a:buAutoNum type="arabicPeriod" startAt="4"/>
            </a:pPr>
            <a:endParaRPr lang="en-US" sz="2000" dirty="0" smtClean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4"/>
            </a:pPr>
            <a:r>
              <a:rPr lang="en-US" dirty="0" smtClean="0">
                <a:sym typeface="Wingdings" panose="05000000000000000000" pitchFamily="2" charset="2"/>
              </a:rPr>
              <a:t>Encrypt M, using the deterministic </a:t>
            </a:r>
            <a:r>
              <a:rPr lang="en-US" dirty="0" err="1" smtClean="0">
                <a:sym typeface="Wingdings" panose="05000000000000000000" pitchFamily="2" charset="2"/>
              </a:rPr>
              <a:t>pairwise</a:t>
            </a:r>
            <a:r>
              <a:rPr lang="en-US" dirty="0" smtClean="0">
                <a:sym typeface="Wingdings" panose="05000000000000000000" pitchFamily="2" charset="2"/>
              </a:rPr>
              <a:t> key </a:t>
            </a:r>
            <a:r>
              <a:rPr lang="en-US" dirty="0" smtClean="0">
                <a:solidFill>
                  <a:srgbClr val="00B050"/>
                </a:solidFill>
                <a:sym typeface="Wingdings" panose="05000000000000000000" pitchFamily="2" charset="2"/>
              </a:rPr>
              <a:t>K</a:t>
            </a:r>
            <a:r>
              <a:rPr lang="en-US" dirty="0" smtClean="0">
                <a:sym typeface="Wingdings" panose="05000000000000000000" pitchFamily="2" charset="2"/>
              </a:rPr>
              <a:t>.</a:t>
            </a:r>
          </a:p>
          <a:p>
            <a:pPr marL="457200" indent="-457200">
              <a:buFont typeface="+mj-lt"/>
              <a:buAutoNum type="arabicPeriod" startAt="4"/>
            </a:pPr>
            <a:endParaRPr lang="en-US" sz="2000" dirty="0" smtClean="0">
              <a:solidFill>
                <a:srgbClr val="000000"/>
              </a:solidFill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4"/>
            </a:pPr>
            <a:r>
              <a:rPr lang="en-US" dirty="0" smtClean="0">
                <a:sym typeface="Wingdings" panose="05000000000000000000" pitchFamily="2" charset="2"/>
              </a:rPr>
              <a:t>Set </a:t>
            </a:r>
            <a:r>
              <a:rPr lang="en-US" u="sng" dirty="0" smtClean="0">
                <a:sym typeface="Wingdings" panose="05000000000000000000" pitchFamily="2" charset="2"/>
              </a:rPr>
              <a:t>FETCH</a:t>
            </a:r>
            <a:r>
              <a:rPr lang="en-US" dirty="0" smtClean="0">
                <a:sym typeface="Wingdings" panose="05000000000000000000" pitchFamily="2" charset="2"/>
              </a:rPr>
              <a:t> as outer code, even if Observe is not used.</a:t>
            </a:r>
          </a:p>
          <a:p>
            <a:pPr marL="457200" indent="-457200">
              <a:buFont typeface="+mj-lt"/>
              <a:buAutoNum type="arabicPeriod" startAt="4"/>
            </a:pPr>
            <a:endParaRPr lang="en-US" sz="2000" dirty="0" smtClean="0">
              <a:solidFill>
                <a:srgbClr val="000000"/>
              </a:solidFill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4"/>
            </a:pPr>
            <a:r>
              <a:rPr lang="en-US" dirty="0" smtClean="0">
                <a:sym typeface="Wingdings" panose="05000000000000000000" pitchFamily="2" charset="2"/>
              </a:rPr>
              <a:t>Send the resulting Deterministic Request.</a:t>
            </a:r>
            <a:endParaRPr lang="en-US" dirty="0">
              <a:solidFill>
                <a:srgbClr val="000000"/>
              </a:solidFill>
              <a:sym typeface="Wingdings" panose="05000000000000000000" pitchFamily="2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="" xmlns:a16="http://schemas.microsoft.com/office/drawing/2014/main" id="{F988C34A-93D4-4AAC-9F3B-66C87E1E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 side (2/2)</a:t>
            </a:r>
            <a:endParaRPr lang="en-US" dirty="0"/>
          </a:p>
        </p:txBody>
      </p:sp>
      <p:pic>
        <p:nvPicPr>
          <p:cNvPr id="1027" name="Picture 3" descr="\\VBOXSVR\vbox-share\20210121_CoRE_interim\hash_option.jp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95363" y="1909763"/>
            <a:ext cx="7154862" cy="9175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3430433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B84C4530-E65E-4A54-B0E8-E5EB5868B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879" y="1249407"/>
            <a:ext cx="8747121" cy="487610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 smtClean="0">
                <a:sym typeface="Wingdings" panose="05000000000000000000" pitchFamily="2" charset="2"/>
              </a:rPr>
              <a:t>Recognize what received as a Deterministic Request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 ‘kid’ as Sender ID of the Deterministic Client C*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 Presence of the Request-Hash option</a:t>
            </a:r>
          </a:p>
          <a:p>
            <a:pPr>
              <a:buNone/>
            </a:pPr>
            <a:endParaRPr lang="en-US" sz="1300" dirty="0" smtClean="0"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2"/>
            </a:pPr>
            <a:r>
              <a:rPr lang="en-US" dirty="0" smtClean="0">
                <a:sym typeface="Wingdings" panose="05000000000000000000" pitchFamily="2" charset="2"/>
              </a:rPr>
              <a:t>Retrieve the hash </a:t>
            </a:r>
            <a:r>
              <a:rPr 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H</a:t>
            </a:r>
            <a:r>
              <a:rPr lang="en-US" dirty="0" smtClean="0">
                <a:sym typeface="Wingdings" panose="05000000000000000000" pitchFamily="2" charset="2"/>
              </a:rPr>
              <a:t> from the Request-Hash option</a:t>
            </a:r>
          </a:p>
          <a:p>
            <a:pPr>
              <a:buNone/>
            </a:pPr>
            <a:endParaRPr lang="en-US" sz="1300" dirty="0" smtClean="0"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3"/>
            </a:pPr>
            <a:r>
              <a:rPr lang="en-US" dirty="0" smtClean="0">
                <a:sym typeface="Wingdings" panose="05000000000000000000" pitchFamily="2" charset="2"/>
              </a:rPr>
              <a:t>Derive the </a:t>
            </a:r>
            <a:r>
              <a:rPr lang="en-US" dirty="0" err="1" smtClean="0">
                <a:sym typeface="Wingdings" panose="05000000000000000000" pitchFamily="2" charset="2"/>
              </a:rPr>
              <a:t>pairwise</a:t>
            </a:r>
            <a:r>
              <a:rPr lang="en-US" dirty="0" smtClean="0">
                <a:sym typeface="Wingdings" panose="05000000000000000000" pitchFamily="2" charset="2"/>
              </a:rPr>
              <a:t> decryption key </a:t>
            </a:r>
            <a:r>
              <a:rPr lang="en-US" dirty="0" smtClean="0">
                <a:solidFill>
                  <a:srgbClr val="00B050"/>
                </a:solidFill>
                <a:sym typeface="Wingdings" panose="05000000000000000000" pitchFamily="2" charset="2"/>
              </a:rPr>
              <a:t>K</a:t>
            </a:r>
            <a:r>
              <a:rPr lang="en-US" dirty="0" smtClean="0">
                <a:sym typeface="Wingdings" panose="05000000000000000000" pitchFamily="2" charset="2"/>
              </a:rPr>
              <a:t> like the client did</a:t>
            </a:r>
          </a:p>
          <a:p>
            <a:pPr marL="457200" indent="-457200">
              <a:buFont typeface="+mj-lt"/>
              <a:buAutoNum type="arabicPeriod" startAt="3"/>
            </a:pPr>
            <a:endParaRPr lang="en-US" sz="1300" dirty="0" smtClean="0"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3"/>
            </a:pPr>
            <a:r>
              <a:rPr lang="en-US" dirty="0" smtClean="0">
                <a:sym typeface="Wingdings" panose="05000000000000000000" pitchFamily="2" charset="2"/>
              </a:rPr>
              <a:t>Decrypt using the </a:t>
            </a:r>
            <a:r>
              <a:rPr lang="en-US" dirty="0" err="1" smtClean="0">
                <a:sym typeface="Wingdings" panose="05000000000000000000" pitchFamily="2" charset="2"/>
              </a:rPr>
              <a:t>pairwise</a:t>
            </a:r>
            <a:r>
              <a:rPr lang="en-US" dirty="0" smtClean="0">
                <a:sym typeface="Wingdings" panose="05000000000000000000" pitchFamily="2" charset="2"/>
              </a:rPr>
              <a:t> mode of Group OSCORE and key </a:t>
            </a:r>
            <a:r>
              <a:rPr lang="en-US" dirty="0" smtClean="0">
                <a:solidFill>
                  <a:srgbClr val="00B050"/>
                </a:solidFill>
                <a:sym typeface="Wingdings" panose="05000000000000000000" pitchFamily="2" charset="2"/>
              </a:rPr>
              <a:t>K</a:t>
            </a:r>
            <a:endParaRPr lang="en-US" dirty="0" smtClean="0">
              <a:sym typeface="Wingdings" panose="05000000000000000000" pitchFamily="2" charset="2"/>
            </a:endParaRPr>
          </a:p>
          <a:p>
            <a:pPr marL="814378" lvl="1" indent="-457200"/>
            <a:r>
              <a:rPr lang="en-US" dirty="0" smtClean="0">
                <a:sym typeface="Wingdings" panose="05000000000000000000" pitchFamily="2" charset="2"/>
              </a:rPr>
              <a:t>In the AAD, set the value of ‘</a:t>
            </a:r>
            <a:r>
              <a:rPr lang="en-US" dirty="0" err="1" smtClean="0">
                <a:sym typeface="Wingdings" panose="05000000000000000000" pitchFamily="2" charset="2"/>
              </a:rPr>
              <a:t>request_kid</a:t>
            </a:r>
            <a:r>
              <a:rPr lang="en-US" dirty="0" smtClean="0">
                <a:sym typeface="Wingdings" panose="05000000000000000000" pitchFamily="2" charset="2"/>
              </a:rPr>
              <a:t>’ to </a:t>
            </a:r>
            <a:r>
              <a:rPr 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H</a:t>
            </a:r>
            <a:r>
              <a:rPr lang="en-US" dirty="0" smtClean="0">
                <a:sym typeface="Wingdings" panose="05000000000000000000" pitchFamily="2" charset="2"/>
              </a:rPr>
              <a:t>.</a:t>
            </a:r>
          </a:p>
          <a:p>
            <a:pPr marL="814378" lvl="1" indent="-457200"/>
            <a:r>
              <a:rPr lang="en-US" dirty="0" smtClean="0">
                <a:sym typeface="Wingdings" panose="05000000000000000000" pitchFamily="2" charset="2"/>
              </a:rPr>
              <a:t>Do not perform replay checks.</a:t>
            </a:r>
            <a:endParaRPr lang="en-US" dirty="0" smtClean="0"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3"/>
            </a:pPr>
            <a:endParaRPr lang="en-US" sz="1300" dirty="0" smtClean="0"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3"/>
            </a:pPr>
            <a:r>
              <a:rPr lang="en-US" dirty="0" smtClean="0">
                <a:sym typeface="Wingdings" panose="05000000000000000000" pitchFamily="2" charset="2"/>
              </a:rPr>
              <a:t>Perform additional checks:</a:t>
            </a:r>
          </a:p>
          <a:p>
            <a:pPr marL="814378" lvl="1" indent="-457200"/>
            <a:r>
              <a:rPr lang="en-US" dirty="0" err="1" smtClean="0">
                <a:sym typeface="Wingdings" panose="05000000000000000000" pitchFamily="2" charset="2"/>
              </a:rPr>
              <a:t>Recompute</a:t>
            </a:r>
            <a:r>
              <a:rPr lang="en-US" dirty="0" smtClean="0">
                <a:sym typeface="Wingdings" panose="05000000000000000000" pitchFamily="2" charset="2"/>
              </a:rPr>
              <a:t> the hash. If different from </a:t>
            </a:r>
            <a:r>
              <a:rPr 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H</a:t>
            </a:r>
            <a:r>
              <a:rPr lang="en-US" dirty="0" smtClean="0">
                <a:sym typeface="Wingdings" panose="05000000000000000000" pitchFamily="2" charset="2"/>
              </a:rPr>
              <a:t>  unprotected 4.00.</a:t>
            </a:r>
          </a:p>
          <a:p>
            <a:pPr marL="814378" lvl="1" indent="-457200"/>
            <a:r>
              <a:rPr lang="en-US" dirty="0" smtClean="0">
                <a:sym typeface="Wingdings" panose="05000000000000000000" pitchFamily="2" charset="2"/>
              </a:rPr>
              <a:t>Is the request REST-safe, without side effects? If not  protected 4.01.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="" xmlns:a16="http://schemas.microsoft.com/office/drawing/2014/main" id="{F988C34A-93D4-4AAC-9F3B-66C87E1E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Server side (1/2)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430433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B84C4530-E65E-4A54-B0E8-E5EB5868B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879" y="1249407"/>
            <a:ext cx="8747121" cy="487610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 smtClean="0">
                <a:sym typeface="Wingdings" panose="05000000000000000000" pitchFamily="2" charset="2"/>
              </a:rPr>
              <a:t>Set a Max-Age different than 0 in the response</a:t>
            </a:r>
          </a:p>
          <a:p>
            <a:pPr>
              <a:buNone/>
            </a:pPr>
            <a:endParaRPr lang="en-US" sz="2000" dirty="0" smtClean="0"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2"/>
            </a:pPr>
            <a:r>
              <a:rPr lang="en-US" dirty="0" smtClean="0">
                <a:sym typeface="Wingdings" panose="05000000000000000000" pitchFamily="2" charset="2"/>
              </a:rPr>
              <a:t>Protect the response with the </a:t>
            </a:r>
            <a:r>
              <a:rPr lang="en-US" u="sng" dirty="0" smtClean="0">
                <a:sym typeface="Wingdings" panose="05000000000000000000" pitchFamily="2" charset="2"/>
              </a:rPr>
              <a:t>group mode</a:t>
            </a:r>
            <a:r>
              <a:rPr lang="en-US" dirty="0" smtClean="0">
                <a:sym typeface="Wingdings" panose="05000000000000000000" pitchFamily="2" charset="2"/>
              </a:rPr>
              <a:t> of Group OSCORE</a:t>
            </a:r>
          </a:p>
          <a:p>
            <a:pPr marL="814378" lvl="1" indent="-457200"/>
            <a:r>
              <a:rPr lang="en-US" dirty="0" smtClean="0">
                <a:sym typeface="Wingdings" panose="05000000000000000000" pitchFamily="2" charset="2"/>
              </a:rPr>
              <a:t>Use own Sender Sequence Number, set as Partial IV in the OSCORE option</a:t>
            </a:r>
          </a:p>
          <a:p>
            <a:pPr marL="814378" lvl="1" indent="-457200"/>
            <a:r>
              <a:rPr lang="en-US" dirty="0" smtClean="0">
                <a:sym typeface="Wingdings" panose="05000000000000000000" pitchFamily="2" charset="2"/>
              </a:rPr>
              <a:t>In the AAD, set the value of ‘</a:t>
            </a:r>
            <a:r>
              <a:rPr lang="en-US" dirty="0" err="1" smtClean="0">
                <a:sym typeface="Wingdings" panose="05000000000000000000" pitchFamily="2" charset="2"/>
              </a:rPr>
              <a:t>request_kid</a:t>
            </a:r>
            <a:r>
              <a:rPr lang="en-US" dirty="0" smtClean="0">
                <a:sym typeface="Wingdings" panose="05000000000000000000" pitchFamily="2" charset="2"/>
              </a:rPr>
              <a:t>’ to </a:t>
            </a:r>
            <a:r>
              <a:rPr 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H</a:t>
            </a:r>
            <a:r>
              <a:rPr lang="en-US" dirty="0" smtClean="0">
                <a:sym typeface="Wingdings" panose="05000000000000000000" pitchFamily="2" charset="2"/>
              </a:rPr>
              <a:t>.</a:t>
            </a:r>
          </a:p>
          <a:p>
            <a:pPr marL="457200" indent="-457200">
              <a:buNone/>
            </a:pPr>
            <a:endParaRPr lang="en-US" sz="2000" dirty="0" smtClean="0"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3"/>
            </a:pPr>
            <a:r>
              <a:rPr lang="en-US" dirty="0" smtClean="0">
                <a:sym typeface="Wingdings" panose="05000000000000000000" pitchFamily="2" charset="2"/>
              </a:rPr>
              <a:t>Set 2.05 as outer code, even if it is not an Observe notification.</a:t>
            </a:r>
            <a:endParaRPr lang="en-US" sz="2000" dirty="0" smtClean="0">
              <a:sym typeface="Wingdings" panose="05000000000000000000" pitchFamily="2" charset="2"/>
            </a:endParaRPr>
          </a:p>
          <a:p>
            <a:pPr marL="457200" indent="-457200">
              <a:buFont typeface="+mj-lt"/>
              <a:buAutoNum type="arabicPeriod" startAt="3"/>
            </a:pPr>
            <a:endParaRPr lang="en-US" dirty="0" smtClean="0">
              <a:sym typeface="Wingdings" panose="05000000000000000000" pitchFamily="2" charset="2"/>
            </a:endParaRPr>
          </a:p>
          <a:p>
            <a:pPr marL="457200" indent="-457200">
              <a:buNone/>
            </a:pPr>
            <a:endParaRPr lang="en-US" dirty="0" smtClean="0">
              <a:sym typeface="Wingdings" panose="05000000000000000000" pitchFamily="2" charset="2"/>
            </a:endParaRPr>
          </a:p>
          <a:p>
            <a:pPr marL="457200" indent="-457200">
              <a:buNone/>
            </a:pPr>
            <a:r>
              <a:rPr lang="en-US" dirty="0" smtClean="0">
                <a:sym typeface="Wingdings" panose="05000000000000000000" pitchFamily="2" charset="2"/>
              </a:rPr>
              <a:t>The client expects the response from a specific ‘kid’</a:t>
            </a:r>
          </a:p>
          <a:p>
            <a:pPr marL="814378" lvl="1" indent="-457200"/>
            <a:r>
              <a:rPr lang="en-US" dirty="0" smtClean="0">
                <a:sym typeface="Wingdings" panose="05000000000000000000" pitchFamily="2" charset="2"/>
              </a:rPr>
              <a:t>Check that against the ‘kid’ in the response, if included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="" xmlns:a16="http://schemas.microsoft.com/office/drawing/2014/main" id="{F988C34A-93D4-4AAC-9F3B-66C87E1E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Server side (2/2)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430433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B84C4530-E65E-4A54-B0E8-E5EB5868B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879" y="1249407"/>
            <a:ext cx="8747121" cy="4876103"/>
          </a:xfrm>
        </p:spPr>
        <p:txBody>
          <a:bodyPr/>
          <a:lstStyle/>
          <a:p>
            <a:pPr marL="457200" indent="-457200"/>
            <a:r>
              <a:rPr lang="en-US" dirty="0" smtClean="0">
                <a:sym typeface="Wingdings" panose="05000000000000000000" pitchFamily="2" charset="2"/>
              </a:rPr>
              <a:t>The Deterministic Request can be sent over IP multicast</a:t>
            </a:r>
          </a:p>
          <a:p>
            <a:pPr marL="814378" lvl="1" indent="-457200"/>
            <a:r>
              <a:rPr lang="en-US" dirty="0" smtClean="0">
                <a:sym typeface="Wingdings" panose="05000000000000000000" pitchFamily="2" charset="2"/>
              </a:rPr>
              <a:t>Then each response MUST include the ‘kid’ of the replying server</a:t>
            </a:r>
          </a:p>
          <a:p>
            <a:pPr marL="457200" indent="-457200">
              <a:buFont typeface="+mj-lt"/>
              <a:buAutoNum type="arabicPeriod" startAt="3"/>
            </a:pPr>
            <a:endParaRPr lang="en-US" sz="2000" dirty="0" smtClean="0">
              <a:sym typeface="Wingdings" panose="05000000000000000000" pitchFamily="2" charset="2"/>
            </a:endParaRPr>
          </a:p>
          <a:p>
            <a:pPr marL="457200" indent="-457200"/>
            <a:r>
              <a:rPr lang="en-US" dirty="0" smtClean="0">
                <a:sym typeface="Wingdings" panose="05000000000000000000" pitchFamily="2" charset="2"/>
              </a:rPr>
              <a:t>Traffic monitoring: easy to notice changes in the resource size</a:t>
            </a:r>
          </a:p>
          <a:p>
            <a:pPr marL="814378" lvl="1" indent="-457200"/>
            <a:r>
              <a:rPr lang="en-US" dirty="0" smtClean="0">
                <a:sym typeface="Wingdings" panose="05000000000000000000" pitchFamily="2" charset="2"/>
              </a:rPr>
              <a:t>This can be a privacy concern</a:t>
            </a:r>
          </a:p>
          <a:p>
            <a:pPr marL="814378" lvl="1" indent="-457200"/>
            <a:r>
              <a:rPr lang="en-US" dirty="0" smtClean="0">
                <a:sym typeface="Wingdings" panose="05000000000000000000" pitchFamily="2" charset="2"/>
              </a:rPr>
              <a:t>Handle with a new Padding option: class U, any content with any length</a:t>
            </a:r>
          </a:p>
          <a:p>
            <a:pPr marL="814378" lvl="1" indent="-457200"/>
            <a:r>
              <a:rPr lang="en-US" dirty="0" smtClean="0">
                <a:sym typeface="Wingdings" panose="05000000000000000000" pitchFamily="2" charset="2"/>
              </a:rPr>
              <a:t>The client adds it to its request; the proxy may add more</a:t>
            </a:r>
          </a:p>
          <a:p>
            <a:pPr marL="814378" lvl="1" indent="-457200"/>
            <a:r>
              <a:rPr lang="en-US" dirty="0" smtClean="0">
                <a:sym typeface="Wingdings" panose="05000000000000000000" pitchFamily="2" charset="2"/>
              </a:rPr>
              <a:t>The server ignores the option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="" xmlns:a16="http://schemas.microsoft.com/office/drawing/2014/main" id="{F988C34A-93D4-4AAC-9F3B-66C87E1E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Side features</a:t>
            </a:r>
            <a:endParaRPr lang="en-US" dirty="0"/>
          </a:p>
        </p:txBody>
      </p:sp>
      <p:pic>
        <p:nvPicPr>
          <p:cNvPr id="2050" name="Picture 2" descr="\\VBOXSVR\vbox-share\20210121_CoRE_interim\padding_option.jp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65238" y="4646613"/>
            <a:ext cx="6615112" cy="9175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3430433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B84C4530-E65E-4A54-B0E8-E5EB5868B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879" y="1249407"/>
            <a:ext cx="8351839" cy="4876103"/>
          </a:xfrm>
        </p:spPr>
        <p:txBody>
          <a:bodyPr/>
          <a:lstStyle/>
          <a:p>
            <a:pPr marL="0" indent="0"/>
            <a:r>
              <a:rPr lang="en-US" dirty="0"/>
              <a:t> </a:t>
            </a:r>
            <a:r>
              <a:rPr lang="en-US" sz="2200" dirty="0" smtClean="0"/>
              <a:t>The server receives a deterministic request. Then:</a:t>
            </a:r>
            <a:endParaRPr lang="en-US" dirty="0" smtClean="0"/>
          </a:p>
          <a:p>
            <a:pPr marL="357178" lvl="1" indent="0"/>
            <a:r>
              <a:rPr lang="en-US" dirty="0" smtClean="0"/>
              <a:t> The decryption succeeds, but …</a:t>
            </a:r>
          </a:p>
          <a:p>
            <a:pPr marL="357178" lvl="1" indent="0"/>
            <a:r>
              <a:rPr lang="en-US" dirty="0" smtClean="0"/>
              <a:t> The recomputed hash is different than the received one</a:t>
            </a:r>
          </a:p>
          <a:p>
            <a:pPr>
              <a:buNone/>
            </a:pPr>
            <a:endParaRPr lang="en-US" sz="2200" dirty="0" smtClean="0"/>
          </a:p>
          <a:p>
            <a:r>
              <a:rPr lang="en-US" sz="2200" dirty="0" smtClean="0"/>
              <a:t>A 4.00 unprotected response follows</a:t>
            </a:r>
            <a:endParaRPr lang="en-US" sz="2000" dirty="0" smtClean="0"/>
          </a:p>
          <a:p>
            <a:pPr lvl="1"/>
            <a:r>
              <a:rPr lang="en-US" dirty="0" smtClean="0"/>
              <a:t> Deviation from usual constant-time code path</a:t>
            </a:r>
          </a:p>
          <a:p>
            <a:pPr lvl="1"/>
            <a:r>
              <a:rPr lang="en-US" sz="2200" dirty="0" smtClean="0"/>
              <a:t> It tells that a forged authentication tag was correct</a:t>
            </a:r>
          </a:p>
          <a:p>
            <a:pPr>
              <a:buNone/>
            </a:pPr>
            <a:endParaRPr lang="en-US" sz="2200" dirty="0" smtClean="0"/>
          </a:p>
          <a:p>
            <a:r>
              <a:rPr lang="en-US" sz="2200" dirty="0" smtClean="0"/>
              <a:t>Is this an actual problem here?</a:t>
            </a:r>
            <a:endParaRPr lang="en-US" sz="2000" dirty="0" smtClean="0"/>
          </a:p>
          <a:p>
            <a:pPr lvl="1"/>
            <a:r>
              <a:rPr lang="en-US" dirty="0" smtClean="0"/>
              <a:t> The deterministic encryption key is used only for this message</a:t>
            </a:r>
            <a:endParaRPr lang="en-US" sz="1800" dirty="0" smtClean="0"/>
          </a:p>
          <a:p>
            <a:pPr>
              <a:buNone/>
            </a:pPr>
            <a:endParaRPr lang="en-US" sz="2200" dirty="0" smtClean="0"/>
          </a:p>
          <a:p>
            <a:pPr>
              <a:buNone/>
            </a:pPr>
            <a:endParaRPr lang="en-US" dirty="0" smtClean="0"/>
          </a:p>
          <a:p>
            <a:pPr lvl="1"/>
            <a:endParaRPr lang="en-US" sz="2200" dirty="0" smtClean="0"/>
          </a:p>
          <a:p>
            <a:pPr lvl="1"/>
            <a:endParaRPr lang="en-US" sz="2200" dirty="0"/>
          </a:p>
          <a:p>
            <a:endParaRPr lang="en-US" dirty="0"/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="" xmlns:a16="http://schemas.microsoft.com/office/drawing/2014/main" id="{F988C34A-93D4-4AAC-9F3B-66C87E1E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Open point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4304335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="" xmlns:a16="http://schemas.microsoft.com/office/drawing/2014/main" id="{B84C4530-E65E-4A54-B0E8-E5EB5868B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879" y="1249407"/>
            <a:ext cx="8351839" cy="4876103"/>
          </a:xfrm>
        </p:spPr>
        <p:txBody>
          <a:bodyPr/>
          <a:lstStyle/>
          <a:p>
            <a:pPr marL="0" indent="0"/>
            <a:r>
              <a:rPr lang="en-US" dirty="0" smtClean="0"/>
              <a:t> Polish the editor’s copy</a:t>
            </a:r>
          </a:p>
          <a:p>
            <a:pPr marL="357178" lvl="1" indent="0"/>
            <a:r>
              <a:rPr lang="en-US" dirty="0" smtClean="0"/>
              <a:t> </a:t>
            </a:r>
            <a:r>
              <a:rPr lang="en-US" dirty="0" smtClean="0">
                <a:hlinkClick r:id="rId2"/>
              </a:rPr>
              <a:t>https://gitlab.com/chrysn/core-cachable-oscore</a:t>
            </a:r>
            <a:endParaRPr lang="en-US" dirty="0" smtClean="0"/>
          </a:p>
          <a:p>
            <a:pPr>
              <a:buNone/>
            </a:pPr>
            <a:endParaRPr lang="en-US" sz="2200" dirty="0" smtClean="0"/>
          </a:p>
          <a:p>
            <a:r>
              <a:rPr lang="en-US" dirty="0" smtClean="0"/>
              <a:t>Submit version -01</a:t>
            </a:r>
          </a:p>
          <a:p>
            <a:pPr>
              <a:buNone/>
            </a:pPr>
            <a:endParaRPr lang="en-US" dirty="0" smtClean="0"/>
          </a:p>
          <a:p>
            <a:r>
              <a:rPr lang="en-US" dirty="0" smtClean="0"/>
              <a:t>Implementation</a:t>
            </a:r>
          </a:p>
          <a:p>
            <a:pPr lvl="1"/>
            <a:r>
              <a:rPr lang="en-US" dirty="0" smtClean="0"/>
              <a:t> Ready in </a:t>
            </a:r>
            <a:r>
              <a:rPr lang="en-US" dirty="0" err="1" smtClean="0"/>
              <a:t>aiocoap</a:t>
            </a:r>
            <a:r>
              <a:rPr lang="en-US" dirty="0" smtClean="0"/>
              <a:t> : </a:t>
            </a:r>
            <a:r>
              <a:rPr lang="en-US" dirty="0" smtClean="0">
                <a:hlinkClick r:id="rId3"/>
              </a:rPr>
              <a:t>https://github.com/chrysn/aiocoap</a:t>
            </a:r>
            <a:endParaRPr lang="en-US" dirty="0" smtClean="0"/>
          </a:p>
          <a:p>
            <a:pPr lvl="1"/>
            <a:r>
              <a:rPr lang="en-US" sz="2200" dirty="0" smtClean="0"/>
              <a:t> One more planned for Californium</a:t>
            </a:r>
          </a:p>
          <a:p>
            <a:pPr>
              <a:buNone/>
            </a:pPr>
            <a:endParaRPr lang="en-US" sz="1800" dirty="0" smtClean="0"/>
          </a:p>
          <a:p>
            <a:pPr>
              <a:buNone/>
            </a:pPr>
            <a:endParaRPr lang="en-US" sz="2200" dirty="0" smtClean="0"/>
          </a:p>
          <a:p>
            <a:pPr>
              <a:buNone/>
            </a:pPr>
            <a:endParaRPr lang="en-US" dirty="0" smtClean="0"/>
          </a:p>
          <a:p>
            <a:pPr lvl="1"/>
            <a:endParaRPr lang="en-US" sz="2200" dirty="0" smtClean="0"/>
          </a:p>
          <a:p>
            <a:pPr lvl="1"/>
            <a:endParaRPr lang="en-US" sz="2200" dirty="0"/>
          </a:p>
          <a:p>
            <a:endParaRPr lang="en-US" dirty="0"/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="" xmlns:a16="http://schemas.microsoft.com/office/drawing/2014/main" id="{F988C34A-93D4-4AAC-9F3B-66C87E1E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Next steps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430433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Title 3"/>
          <p:cNvSpPr>
            <a:spLocks noGrp="1"/>
          </p:cNvSpPr>
          <p:nvPr>
            <p:ph type="ctrTitle"/>
          </p:nvPr>
        </p:nvSpPr>
        <p:spPr>
          <a:xfrm>
            <a:off x="-167153" y="1013870"/>
            <a:ext cx="9478297" cy="5041371"/>
          </a:xfrm>
        </p:spPr>
        <p:txBody>
          <a:bodyPr/>
          <a:lstStyle/>
          <a:p>
            <a:pPr algn="ctr" eaLnBrk="1" hangingPunct="1"/>
            <a:r>
              <a:rPr lang="en-US" sz="5400" dirty="0" smtClean="0">
                <a:latin typeface="Calibri" charset="0"/>
              </a:rPr>
              <a:t>Thank you!</a:t>
            </a:r>
            <a:br>
              <a:rPr lang="en-US" sz="5400" dirty="0" smtClean="0">
                <a:latin typeface="Calibri" charset="0"/>
              </a:rPr>
            </a:br>
            <a:r>
              <a:rPr lang="en-US" sz="5400" dirty="0" smtClean="0">
                <a:latin typeface="Calibri" charset="0"/>
              </a:rPr>
              <a:t/>
            </a:r>
            <a:br>
              <a:rPr lang="en-US" sz="5400" dirty="0" smtClean="0">
                <a:latin typeface="Calibri" charset="0"/>
              </a:rPr>
            </a:br>
            <a:r>
              <a:rPr lang="en-US" sz="5400" dirty="0" smtClean="0">
                <a:latin typeface="Calibri" charset="0"/>
              </a:rPr>
              <a:t>Comments/questions? </a:t>
            </a:r>
            <a:r>
              <a:rPr lang="en-US" sz="2800" dirty="0"/>
              <a:t/>
            </a:r>
            <a:br>
              <a:rPr lang="en-US" sz="2800" dirty="0"/>
            </a:br>
            <a:endParaRPr lang="en-US" sz="2800" dirty="0">
              <a:latin typeface="Calibri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="" xmlns:p14="http://schemas.microsoft.com/office/powerpoint/2010/main" val="315022837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TitlePag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TitlePage"/>
</p:tagLst>
</file>

<file path=ppt/theme/theme1.xml><?xml version="1.0" encoding="utf-8"?>
<a:theme xmlns:a="http://schemas.openxmlformats.org/drawingml/2006/main" name="PresentationTemplate2011">
  <a:themeElements>
    <a:clrScheme name="Custom 2">
      <a:dk1>
        <a:srgbClr val="58585A"/>
      </a:dk1>
      <a:lt1>
        <a:srgbClr val="FFFFFF"/>
      </a:lt1>
      <a:dk2>
        <a:srgbClr val="00285E"/>
      </a:dk2>
      <a:lt2>
        <a:srgbClr val="B1B3B4"/>
      </a:lt2>
      <a:accent1>
        <a:srgbClr val="89BA17"/>
      </a:accent1>
      <a:accent2>
        <a:srgbClr val="F08A00"/>
      </a:accent2>
      <a:accent3>
        <a:srgbClr val="FFFFFF"/>
      </a:accent3>
      <a:accent4>
        <a:srgbClr val="4A4A4C"/>
      </a:accent4>
      <a:accent5>
        <a:srgbClr val="C4D9AB"/>
      </a:accent5>
      <a:accent6>
        <a:srgbClr val="D97D00"/>
      </a:accent6>
      <a:hlink>
        <a:srgbClr val="58585A"/>
      </a:hlink>
      <a:folHlink>
        <a:srgbClr val="00625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72000" tIns="45720" rIns="7200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GB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72000" tIns="45720" rIns="7200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GB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-tem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51729</TotalTime>
  <Words>740</Words>
  <Application>Microsoft Macintosh PowerPoint</Application>
  <PresentationFormat>Presentazione su schermo (4:3)</PresentationFormat>
  <Paragraphs>127</Paragraphs>
  <Slides>11</Slides>
  <Notes>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2" baseType="lpstr">
      <vt:lpstr>PresentationTemplate2011</vt:lpstr>
      <vt:lpstr>Cachable OSCORE   Work in progress towards  draft-amsuess-core-cachable-oscore-01   Christian Amsüss  Marco Tiloca, RISE    CoRE Interim Meeting, January 21st, 2021</vt:lpstr>
      <vt:lpstr>Recap</vt:lpstr>
      <vt:lpstr>Key concepts</vt:lpstr>
      <vt:lpstr>Client side (1/2)</vt:lpstr>
      <vt:lpstr>Client side (2/2)</vt:lpstr>
      <vt:lpstr>Server side (1/2)</vt:lpstr>
      <vt:lpstr>Server side (2/2)</vt:lpstr>
      <vt:lpstr>Side features</vt:lpstr>
      <vt:lpstr>Open point</vt:lpstr>
      <vt:lpstr>Next steps</vt:lpstr>
      <vt:lpstr>Thank you!  Comments/questions?  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 Security of CoAP (OSCOAP)    draft-ietf-core-object-security-00   Göran Selander, Ericsson John Mattsson, Ericsson Francesca Palombini, Ericsson Ludwig Seitz, SICS Swedish ICT  IETF 97, CORE WG, Seoul, Nov 11, 2016</dc:title>
  <dc:creator/>
  <cp:keywords/>
  <dc:description>Rev PA1</dc:description>
  <cp:lastModifiedBy>Marco Tiloca</cp:lastModifiedBy>
  <cp:revision>1679</cp:revision>
  <cp:lastPrinted>2015-07-19T16:41:56Z</cp:lastPrinted>
  <dcterms:created xsi:type="dcterms:W3CDTF">2011-05-24T09:22:48Z</dcterms:created>
  <dcterms:modified xsi:type="dcterms:W3CDTF">2021-01-18T18:31:44Z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Type">
    <vt:lpwstr>Presentation2011</vt:lpwstr>
  </property>
  <property fmtid="{D5CDD505-2E9C-101B-9397-08002B2CF9AE}" pid="3" name="TemplateName">
    <vt:lpwstr>CXC 173 2731/1</vt:lpwstr>
  </property>
  <property fmtid="{D5CDD505-2E9C-101B-9397-08002B2CF9AE}" pid="4" name="TemplateVersion">
    <vt:lpwstr>R1A</vt:lpwstr>
  </property>
  <property fmtid="{D5CDD505-2E9C-101B-9397-08002B2CF9AE}" pid="5" name="EmbeddedFonts">
    <vt:bool>false</vt:bool>
  </property>
  <property fmtid="{D5CDD505-2E9C-101B-9397-08002B2CF9AE}" pid="6" name="FooterType">
    <vt:lpwstr>PresTemp</vt:lpwstr>
  </property>
  <property fmtid="{D5CDD505-2E9C-101B-9397-08002B2CF9AE}" pid="7" name="UsedFont">
    <vt:lpwstr>Arial</vt:lpwstr>
  </property>
  <property fmtid="{D5CDD505-2E9C-101B-9397-08002B2CF9AE}" pid="8" name="x">
    <vt:lpwstr>1</vt:lpwstr>
  </property>
  <property fmtid="{D5CDD505-2E9C-101B-9397-08002B2CF9AE}" pid="9" name="White">
    <vt:bool>true</vt:bool>
  </property>
  <property fmtid="{D5CDD505-2E9C-101B-9397-08002B2CF9AE}" pid="10" name="chkMetaData">
    <vt:bool>false</vt:bool>
  </property>
  <property fmtid="{D5CDD505-2E9C-101B-9397-08002B2CF9AE}" pid="11" name="chkTaglines">
    <vt:bool>false</vt:bool>
  </property>
  <property fmtid="{D5CDD505-2E9C-101B-9397-08002B2CF9AE}" pid="12" name="SecurityClass">
    <vt:lpwstr>Ericsson Internal</vt:lpwstr>
  </property>
  <property fmtid="{D5CDD505-2E9C-101B-9397-08002B2CF9AE}" pid="13" name="txtConfLabel">
    <vt:lpwstr>Ericsson Internal</vt:lpwstr>
  </property>
  <property fmtid="{D5CDD505-2E9C-101B-9397-08002B2CF9AE}" pid="14" name="optUseConfClass">
    <vt:bool>true</vt:bool>
  </property>
  <property fmtid="{D5CDD505-2E9C-101B-9397-08002B2CF9AE}" pid="15" name="optUseConfLabel">
    <vt:bool>false</vt:bool>
  </property>
  <property fmtid="{D5CDD505-2E9C-101B-9397-08002B2CF9AE}" pid="16" name="optFooterCVLDocNo">
    <vt:bool>false</vt:bool>
  </property>
  <property fmtid="{D5CDD505-2E9C-101B-9397-08002B2CF9AE}" pid="17" name="optFooterCVLCopyright">
    <vt:bool>false</vt:bool>
  </property>
  <property fmtid="{D5CDD505-2E9C-101B-9397-08002B2CF9AE}" pid="18" name="optEnterText1">
    <vt:bool>true</vt:bool>
  </property>
  <property fmtid="{D5CDD505-2E9C-101B-9397-08002B2CF9AE}" pid="19" name="optFooterCVLConfLabel">
    <vt:bool>false</vt:bool>
  </property>
  <property fmtid="{D5CDD505-2E9C-101B-9397-08002B2CF9AE}" pid="20" name="optEnterText2">
    <vt:bool>true</vt:bool>
  </property>
  <property fmtid="{D5CDD505-2E9C-101B-9397-08002B2CF9AE}" pid="21" name="optFooterCVLTitle">
    <vt:bool>false</vt:bool>
  </property>
  <property fmtid="{D5CDD505-2E9C-101B-9397-08002B2CF9AE}" pid="22" name="optFooterCVLPrep">
    <vt:bool>false</vt:bool>
  </property>
  <property fmtid="{D5CDD505-2E9C-101B-9397-08002B2CF9AE}" pid="23" name="optEnterText3">
    <vt:bool>true</vt:bool>
  </property>
  <property fmtid="{D5CDD505-2E9C-101B-9397-08002B2CF9AE}" pid="24" name="optFooterCVLDate">
    <vt:bool>true</vt:bool>
  </property>
  <property fmtid="{D5CDD505-2E9C-101B-9397-08002B2CF9AE}" pid="25" name="optEnterText4">
    <vt:bool>false</vt:bool>
  </property>
  <property fmtid="{D5CDD505-2E9C-101B-9397-08002B2CF9AE}" pid="26" name="LeftFooterField">
    <vt:lpwstr>CoRE WG</vt:lpwstr>
  </property>
  <property fmtid="{D5CDD505-2E9C-101B-9397-08002B2CF9AE}" pid="27" name="MiddleFooterField">
    <vt:lpwstr>Seoul</vt:lpwstr>
  </property>
  <property fmtid="{D5CDD505-2E9C-101B-9397-08002B2CF9AE}" pid="28" name="RightFooterField">
    <vt:lpwstr>IETF 97</vt:lpwstr>
  </property>
  <property fmtid="{D5CDD505-2E9C-101B-9397-08002B2CF9AE}" pid="29" name="RightFooterField2">
    <vt:lpwstr>2016-11-02</vt:lpwstr>
  </property>
  <property fmtid="{D5CDD505-2E9C-101B-9397-08002B2CF9AE}" pid="30" name="TotalNumb">
    <vt:bool>false</vt:bool>
  </property>
  <property fmtid="{D5CDD505-2E9C-101B-9397-08002B2CF9AE}" pid="31" name="Pages">
    <vt:bool>true</vt:bool>
  </property>
  <property fmtid="{D5CDD505-2E9C-101B-9397-08002B2CF9AE}" pid="32" name="DocumentType2">
    <vt:lpwstr>Presentation2011</vt:lpwstr>
  </property>
  <property fmtid="{D5CDD505-2E9C-101B-9397-08002B2CF9AE}" pid="33" name="TemplateName2">
    <vt:lpwstr>CXC 173 2731/1</vt:lpwstr>
  </property>
  <property fmtid="{D5CDD505-2E9C-101B-9397-08002B2CF9AE}" pid="34" name="TemplateVersion2">
    <vt:lpwstr>R1A</vt:lpwstr>
  </property>
  <property fmtid="{D5CDD505-2E9C-101B-9397-08002B2CF9AE}" pid="35" name="PackageNo">
    <vt:lpwstr>LXA 119 603</vt:lpwstr>
  </property>
  <property fmtid="{D5CDD505-2E9C-101B-9397-08002B2CF9AE}" pid="36" name="PackageVersion">
    <vt:lpwstr>R5C</vt:lpwstr>
  </property>
  <property fmtid="{D5CDD505-2E9C-101B-9397-08002B2CF9AE}" pid="37" name="Prepared">
    <vt:lpwstr/>
  </property>
  <property fmtid="{D5CDD505-2E9C-101B-9397-08002B2CF9AE}" pid="38" name="ApprovedBy">
    <vt:lpwstr/>
  </property>
  <property fmtid="{D5CDD505-2E9C-101B-9397-08002B2CF9AE}" pid="39" name="DocNo">
    <vt:lpwstr/>
  </property>
  <property fmtid="{D5CDD505-2E9C-101B-9397-08002B2CF9AE}" pid="40" name="Checked">
    <vt:lpwstr/>
  </property>
  <property fmtid="{D5CDD505-2E9C-101B-9397-08002B2CF9AE}" pid="41" name="Revision">
    <vt:lpwstr>PA1</vt:lpwstr>
  </property>
  <property fmtid="{D5CDD505-2E9C-101B-9397-08002B2CF9AE}" pid="42" name="DocName">
    <vt:lpwstr/>
  </property>
  <property fmtid="{D5CDD505-2E9C-101B-9397-08002B2CF9AE}" pid="43" name="Title">
    <vt:lpwstr/>
  </property>
  <property fmtid="{D5CDD505-2E9C-101B-9397-08002B2CF9AE}" pid="44" name="Date">
    <vt:lpwstr>2016-11-02</vt:lpwstr>
  </property>
  <property fmtid="{D5CDD505-2E9C-101B-9397-08002B2CF9AE}" pid="45" name="Reference">
    <vt:lpwstr/>
  </property>
  <property fmtid="{D5CDD505-2E9C-101B-9397-08002B2CF9AE}" pid="46" name="Keyword">
    <vt:lpwstr/>
  </property>
  <property fmtid="{D5CDD505-2E9C-101B-9397-08002B2CF9AE}" pid="47" name="UpdateProcess">
    <vt:lpwstr>End</vt:lpwstr>
  </property>
</Properties>
</file>