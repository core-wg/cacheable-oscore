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/>
  <p:notesSz cx="6884987" cy="100187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GB" sz="2000" spc="-1" strike="noStrike">
                <a:solidFill>
                  <a:srgbClr val="58585a"/>
                </a:solidFill>
                <a:latin typeface="Arial"/>
              </a:rPr>
              <a:t>Click to move the slide</a:t>
            </a:r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BB08EFE7-A662-435C-AB19-61DFF477F047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936720" y="750960"/>
            <a:ext cx="5011200" cy="3757320"/>
          </a:xfrm>
          <a:prstGeom prst="rect">
            <a:avLst/>
          </a:prstGeom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9040" y="4759200"/>
            <a:ext cx="5506560" cy="4508280"/>
          </a:xfrm>
          <a:prstGeom prst="rect">
            <a:avLst/>
          </a:prstGeom>
        </p:spPr>
        <p:txBody>
          <a:bodyPr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3900600" y="0"/>
            <a:ext cx="2982600" cy="501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r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2016-11-01 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11" name="TextShape 4"/>
          <p:cNvSpPr txBox="1"/>
          <p:nvPr/>
        </p:nvSpPr>
        <p:spPr>
          <a:xfrm>
            <a:off x="0" y="9515520"/>
            <a:ext cx="2982600" cy="5011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CoRE WG 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12" name="TextShape 5"/>
          <p:cNvSpPr txBox="1"/>
          <p:nvPr/>
        </p:nvSpPr>
        <p:spPr>
          <a:xfrm>
            <a:off x="3900600" y="9515520"/>
            <a:ext cx="2982600" cy="5011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601"/>
              </a:spcBef>
            </a:pPr>
            <a:fld id="{C71038D0-9301-43F3-B2F5-BD12AB3FFFB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113" name="TextShape 6"/>
          <p:cNvSpPr txBox="1"/>
          <p:nvPr/>
        </p:nvSpPr>
        <p:spPr>
          <a:xfrm>
            <a:off x="0" y="0"/>
            <a:ext cx="2982600" cy="501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IETF 97 </a:t>
            </a:r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93840" y="1808640"/>
            <a:ext cx="8351640" cy="13160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93840" y="1808640"/>
            <a:ext cx="8351640" cy="13160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GB" sz="20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395280" y="6524640"/>
            <a:ext cx="73990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CoRE Interim Meeting</a:t>
            </a:r>
            <a:r>
              <a:rPr b="0" lang="en-US" sz="800" spc="-1" strike="noStrike">
                <a:solidFill>
                  <a:srgbClr val="87888a"/>
                </a:solidFill>
                <a:latin typeface="Arial"/>
                <a:ea typeface="ＭＳ Ｐゴシック"/>
              </a:rPr>
              <a:t> |  2021-01-21  |  Page </a:t>
            </a:r>
            <a:fld id="{66712F47-3AD9-446B-9048-97901D6906CD}" type="slidenum">
              <a:rPr b="0" lang="en-US" sz="800" spc="-1" strike="noStrike">
                <a:solidFill>
                  <a:srgbClr val="87888a"/>
                </a:solidFill>
                <a:latin typeface="Arial"/>
                <a:ea typeface="ＭＳ Ｐゴシック"/>
              </a:rPr>
              <a:t>&lt;number&gt;</a:t>
            </a:fld>
            <a:endParaRPr b="0" lang="en-GB" sz="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393840" y="1808640"/>
            <a:ext cx="8351640" cy="2838960"/>
          </a:xfrm>
          <a:prstGeom prst="rect">
            <a:avLst/>
          </a:prstGeom>
        </p:spPr>
        <p:txBody>
          <a:bodyPr lIns="72000" rIns="72000" tIns="0" bIns="0" anchor="ctr">
            <a:normAutofit/>
          </a:bodyPr>
          <a:p>
            <a:pPr>
              <a:lnSpc>
                <a:spcPct val="75000"/>
              </a:lnSpc>
            </a:pPr>
            <a:r>
              <a:rPr b="0" lang="en-US" sz="7100" spc="-1" strike="noStrike">
                <a:solidFill>
                  <a:srgbClr val="58585a"/>
                </a:solidFill>
                <a:latin typeface="Arial"/>
                <a:ea typeface="ＭＳ Ｐゴシック"/>
              </a:rPr>
              <a:t>Click to edit Master title style</a:t>
            </a:r>
            <a:endParaRPr b="0" lang="en-GB" sz="7100" spc="-1" strike="noStrike">
              <a:solidFill>
                <a:srgbClr val="58585a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58585a"/>
                </a:solidFill>
                <a:latin typeface="Calibri"/>
              </a:rPr>
              <a:t>Click to edit the outline text format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Second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58585a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395280" y="6524640"/>
            <a:ext cx="73990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CoRE Interim Meeting</a:t>
            </a:r>
            <a:r>
              <a:rPr b="0" lang="en-US" sz="800" spc="-1" strike="noStrike">
                <a:solidFill>
                  <a:srgbClr val="87888a"/>
                </a:solidFill>
                <a:latin typeface="Arial"/>
                <a:ea typeface="ＭＳ Ｐゴシック"/>
              </a:rPr>
              <a:t> |  2021-01-21  |  Page </a:t>
            </a:r>
            <a:fld id="{28E5A75F-C064-4CE4-AD58-1D3450DDEF63}" type="slidenum">
              <a:rPr b="0" lang="en-US" sz="800" spc="-1" strike="noStrike">
                <a:solidFill>
                  <a:srgbClr val="87888a"/>
                </a:solidFill>
                <a:latin typeface="Arial"/>
                <a:ea typeface="ＭＳ Ｐゴシック"/>
              </a:rPr>
              <a:t>&lt;number&gt;</a:t>
            </a:fld>
            <a:endParaRPr b="0" lang="en-GB" sz="8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96720" y="1800000"/>
            <a:ext cx="8351640" cy="3851640"/>
          </a:xfrm>
          <a:prstGeom prst="rect">
            <a:avLst/>
          </a:prstGeom>
        </p:spPr>
        <p:txBody>
          <a:bodyPr lIns="72000" rIns="72000" tIns="0" bIns="0">
            <a:noAutofit/>
          </a:bodyPr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Click to edit Master text styles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Second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2" marL="892080" indent="-178920">
              <a:lnSpc>
                <a:spcPct val="100000"/>
              </a:lnSpc>
              <a:spcBef>
                <a:spcPts val="400"/>
              </a:spcBef>
              <a:buClr>
                <a:srgbClr val="92cce5"/>
              </a:buClr>
              <a:buFont typeface="Ericsson Capital TT"/>
              <a:buChar char="›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Third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3" marL="1252440" indent="-1807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-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Fourth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4" marL="1614600" indent="-1807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›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Fifth level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393840" y="239760"/>
            <a:ext cx="7494120" cy="1085040"/>
          </a:xfrm>
          <a:prstGeom prst="rect">
            <a:avLst/>
          </a:prstGeom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Click to edit Master title style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lab.com/chrysn/core-cachable-oscore" TargetMode="External"/><Relationship Id="rId2" Type="http://schemas.openxmlformats.org/officeDocument/2006/relationships/hyperlink" Target="https://github.com/chrysn/aiocoap" TargetMode="External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80880" y="1506960"/>
            <a:ext cx="8351640" cy="504108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rmAutofit/>
          </a:bodyPr>
          <a:p>
            <a:pPr algn="ctr">
              <a:lnSpc>
                <a:spcPct val="75000"/>
              </a:lnSpc>
            </a:pPr>
            <a:r>
              <a:rPr b="0" lang="en-US" sz="5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Cachable OSCORE</a:t>
            </a:r>
            <a:br/>
            <a:br/>
            <a:br/>
            <a:r>
              <a:rPr b="0" lang="en-US" sz="2800" spc="-1" strike="noStrike">
                <a:solidFill>
                  <a:srgbClr val="58585a"/>
                </a:solidFill>
                <a:latin typeface="Arial"/>
                <a:ea typeface="ＭＳ Ｐゴシック"/>
              </a:rPr>
              <a:t>Work in progress towards</a:t>
            </a:r>
            <a:br/>
            <a:br/>
            <a:r>
              <a:rPr b="0" i="1" lang="en-US" sz="2800" spc="-1" strike="noStrike">
                <a:solidFill>
                  <a:srgbClr val="58585a"/>
                </a:solidFill>
                <a:latin typeface="Arial"/>
                <a:ea typeface="ＭＳ Ｐゴシック"/>
              </a:rPr>
              <a:t>draft-amsuess-core-cachable-oscore-01</a:t>
            </a:r>
            <a:br/>
            <a:br/>
            <a:br/>
            <a:r>
              <a:rPr b="0" lang="en-US" sz="2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Christian Amsüss</a:t>
            </a:r>
            <a:br/>
            <a:r>
              <a:rPr b="0" lang="en-US" sz="2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Marco Tiloca, RISE</a:t>
            </a:r>
            <a:br/>
            <a:br/>
            <a:br/>
            <a:br/>
            <a:r>
              <a:rPr b="0" lang="en-US" sz="2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CoRE Interim Meeting, January 21</a:t>
            </a:r>
            <a:r>
              <a:rPr b="0" lang="en-US" sz="2800" spc="-1" strike="noStrike" baseline="30000">
                <a:solidFill>
                  <a:srgbClr val="58585a"/>
                </a:solidFill>
                <a:latin typeface="Calibri"/>
                <a:ea typeface="ＭＳ Ｐゴシック"/>
              </a:rPr>
              <a:t>st</a:t>
            </a:r>
            <a:r>
              <a:rPr b="0" lang="en-US" sz="28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, 2021</a:t>
            </a:r>
            <a:endParaRPr b="0" lang="en-GB" sz="28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396720" y="1249560"/>
            <a:ext cx="835164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Enable proxies to cache OSCORE responses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Message protection with Group OSCORE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Clients and server have to already be group members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proxy is untrusted and not a group member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Clients need a same Group OSCORE “consensus request”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This will hit a cache entry, for the proxy to return a cached response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Done a major revision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Focus on deterministic requests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Use dedicated option for Request-Hash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Build requests on pairwise mode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Following the discussion at the CoRE interim in November 2020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Aligned with the upcoming version -11 of Group OSCORE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Recap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Deterministic client – C*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Fictitious group member, setup by the Group Manager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No Sequence Number, no Recipient Context, </a:t>
            </a:r>
            <a:r>
              <a:rPr b="0" lang="en-US" sz="20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</a:rPr>
              <a:t>no public/private key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Clients obtain information about C*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Sender ID (→ S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ender Key), Hash algorithm </a:t>
            </a:r>
            <a:r>
              <a:rPr b="0" i="1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(·)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From the Group Manager, e.g. when joining the group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Each client can act as if it was C*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Given a same plain CoAP request M …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each client computes a same protected </a:t>
            </a:r>
            <a:r>
              <a:rPr b="0" lang="en-US" sz="20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</a:rPr>
              <a:t>Deterministic Request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Deterministic Request is sent to the server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Key concepts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Protect message M using the </a:t>
            </a:r>
            <a:r>
              <a:rPr b="0" lang="en-US" sz="24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</a:rPr>
              <a:t>pairwise mode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of Group OSCORE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Prepare the OSCORE option like a pairwise request from C*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Use 0 as Partial IV because it is freshly derived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2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Compute a hash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using </a:t>
            </a:r>
            <a:r>
              <a:rPr b="0" i="1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h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(·) as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= h( Sender Key of C* || AAD || COSE plaintext )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3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Derive the pairwise encryption key 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ＭＳ Ｐゴシック"/>
              </a:rPr>
              <a:t>K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as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  <a:ea typeface="ＭＳ Ｐゴシック"/>
              </a:rPr>
              <a:t>K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= HKDF( Sender Key of C*, 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, info, L)    // </a:t>
            </a:r>
            <a:r>
              <a:rPr b="0" i="1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No real Diffie-Hellman secret here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but otherwise just acts like a pairwise request here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Client side (1/2)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 marL="457200" indent="-456840">
              <a:lnSpc>
                <a:spcPct val="100000"/>
              </a:lnSpc>
              <a:spcBef>
                <a:spcPts val="196"/>
              </a:spcBef>
              <a:buClr>
                <a:srgbClr val="00a9d4"/>
              </a:buClr>
              <a:buFont typeface="Calibri Light"/>
              <a:buAutoNum type="arabicPeriod" startAt="4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Include the new Request-Hash option: class U, value set to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9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9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9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9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 marL="457200" indent="-456840">
              <a:lnSpc>
                <a:spcPct val="100000"/>
              </a:lnSpc>
              <a:spcBef>
                <a:spcPts val="196"/>
              </a:spcBef>
              <a:buClr>
                <a:srgbClr val="00a9d4"/>
              </a:buClr>
              <a:buFont typeface="Calibri Light"/>
              <a:buAutoNum type="arabicPeriod" startAt="4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In the AAD, set the value of ‘request_kid’ to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.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or CBOR [gid, H]? Structured ID Context being discussed.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1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 marL="457200" indent="-456840">
              <a:lnSpc>
                <a:spcPct val="100000"/>
              </a:lnSpc>
              <a:spcBef>
                <a:spcPts val="196"/>
              </a:spcBef>
              <a:buClr>
                <a:srgbClr val="00a9d4"/>
              </a:buClr>
              <a:buFont typeface="Calibri Light"/>
              <a:buAutoNum type="arabicPeriod" startAt="4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Encrypt M, using the deterministic pairwise key 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ＭＳ Ｐゴシック"/>
              </a:rPr>
              <a:t>K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.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1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 marL="457200" indent="-456840">
              <a:lnSpc>
                <a:spcPct val="100000"/>
              </a:lnSpc>
              <a:spcBef>
                <a:spcPts val="196"/>
              </a:spcBef>
              <a:buClr>
                <a:srgbClr val="00a9d4"/>
              </a:buClr>
              <a:buFont typeface="Calibri Light"/>
              <a:buAutoNum type="arabicPeriod" startAt="4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Set </a:t>
            </a:r>
            <a:r>
              <a:rPr b="0" lang="en-US" sz="24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</a:rPr>
              <a:t>FETCH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as outer code, even if Observe is not used.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116"/>
              </a:spcBef>
            </a:pP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  <a:p>
            <a:pPr marL="457200" indent="-456840">
              <a:lnSpc>
                <a:spcPct val="100000"/>
              </a:lnSpc>
              <a:spcBef>
                <a:spcPts val="196"/>
              </a:spcBef>
              <a:buClr>
                <a:srgbClr val="00a9d4"/>
              </a:buClr>
              <a:buFont typeface="Calibri Light"/>
              <a:buAutoNum type="arabicPeriod" startAt="4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Send the resulting Deterministic Request.</a:t>
            </a:r>
            <a:endParaRPr b="0" lang="en-GB" sz="2400" spc="-1" strike="noStrike">
              <a:solidFill>
                <a:srgbClr val="58585a"/>
              </a:solidFill>
              <a:latin typeface="Calibri"/>
              <a:ea typeface="ＭＳ Ｐゴシック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Client side (2/2)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  <p:pic>
        <p:nvPicPr>
          <p:cNvPr id="93" name="Picture 3" descr="\\VBOXSVR\vbox-share\20210121_CoRE_interim\hash_option.jpg"/>
          <p:cNvPicPr/>
          <p:nvPr/>
        </p:nvPicPr>
        <p:blipFill>
          <a:blip r:embed="rId1"/>
          <a:stretch/>
        </p:blipFill>
        <p:spPr>
          <a:xfrm>
            <a:off x="995400" y="1909800"/>
            <a:ext cx="7154640" cy="9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Recognize what received as a Deterministic Request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‘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kid’ as Sender ID of the Deterministic Client C*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Presence of the Request-Hash option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26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2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Retrieve the hash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from the Request-Hash option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261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3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Derive the pairwise decryption key 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ＭＳ Ｐゴシック"/>
              </a:rPr>
              <a:t>K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like the client did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61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3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Decrypt using the pairwise mode of Group OSCORE and key </a:t>
            </a:r>
            <a:r>
              <a:rPr b="0" lang="en-US" sz="2400" spc="-1" strike="noStrike">
                <a:solidFill>
                  <a:srgbClr val="00b050"/>
                </a:solidFill>
                <a:latin typeface="Calibri"/>
                <a:ea typeface="ＭＳ Ｐゴシック"/>
              </a:rPr>
              <a:t>K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In the AAD, set the value of ‘request_kid’ to 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.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Do not perform replay checks (safety checks: see below)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6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3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Perform additional checks: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Recompute the hash. If different from 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Wingdings"/>
                <a:ea typeface="ＭＳ Ｐゴシック"/>
              </a:rPr>
              <a:t>→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unprotected 4.00.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Is the request REST-safe, without side effects? If not </a:t>
            </a:r>
            <a:r>
              <a:rPr b="0" lang="en-US" sz="2000" spc="-1" strike="noStrike">
                <a:solidFill>
                  <a:srgbClr val="58585a"/>
                </a:solidFill>
                <a:latin typeface="Wingdings"/>
                <a:ea typeface="ＭＳ Ｐゴシック"/>
              </a:rPr>
              <a:t>→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protected 4.01.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Server side (1/2)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Set Max-Age as appropriate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2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Protect the response with the </a:t>
            </a:r>
            <a:r>
              <a:rPr b="0" lang="en-US" sz="24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</a:rPr>
              <a:t>group mode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of Group OSCORE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Use own Sender Sequence Number, set as Partial IV in the OSCORE option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In the AAD, set the value of ‘request_kid’ to 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  <a:ea typeface="ＭＳ Ｐゴシック"/>
              </a:rPr>
              <a:t>H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.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Calibri Light"/>
              <a:buAutoNum type="arabicPeriod" startAt="3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Set 2.05 as outer code, as it answers a FETCH.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client expects the response from a specific ‘kid’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Check that against the ‘kid’ in the response, if included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Server side (2/2)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396720" y="1249560"/>
            <a:ext cx="874692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Deterministic Request can be sent over IP multicast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Then each response MUST include the ‘kid’ of the replying server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457200" indent="-45684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Traffic monitoring: easy to notice changes in the resource size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This can be a new privacy concern as now requests can be categorized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Handle with a new Padding option: class U, any content with any length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client adds it to its request; the proxy may add more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814320" indent="-45684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server ignores the option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Side features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  <p:pic>
        <p:nvPicPr>
          <p:cNvPr id="100" name="Picture 2" descr="\\VBOXSVR\vbox-share\20210121_CoRE_interim\padding_option.jpg"/>
          <p:cNvPicPr/>
          <p:nvPr/>
        </p:nvPicPr>
        <p:blipFill>
          <a:blip r:embed="rId1"/>
          <a:stretch/>
        </p:blipFill>
        <p:spPr>
          <a:xfrm>
            <a:off x="1265400" y="4646520"/>
            <a:ext cx="6614640" cy="9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396720" y="1249560"/>
            <a:ext cx="835164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Freshness is lost, including request replays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Relative freshness is still available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spcBef>
                <a:spcPts val="1417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Request confidentiality is limited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Identical requests have the same ciphertext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spcBef>
                <a:spcPts val="1417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Source authentication for clients is lost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But the server checks for whether the code is safe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spcBef>
                <a:spcPts val="1417"/>
              </a:spcBef>
              <a:buClr>
                <a:srgbClr val="00a9d4"/>
              </a:buClr>
              <a:buFont typeface="Arial"/>
              <a:buChar char="›"/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spcBef>
                <a:spcPts val="1417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Loss of these properties is inherently necessary for untrusted caches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Source authentication for clients could be salvaged at great cost, but replay issue would make it useless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spcBef>
                <a:spcPts val="1417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All other properties should remain intact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Security compared to OSCORE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396720" y="1249560"/>
            <a:ext cx="835164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server receives a deterministic request. Then: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decryption succeeds, but …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recomputed hash is different than the received one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A 4.00 unprotected response follows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Deviation from usual constant-time code path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39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It tells that a forged authentication tag was correct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Is this an actual problem here?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The deterministic encryption key is used only for this message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Open point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396720" y="1249560"/>
            <a:ext cx="8351640" cy="4875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Polish the editor’s copy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35712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  <a:hlinkClick r:id="rId1"/>
              </a:rPr>
              <a:t>https://gitlab.com/chrysn/core-cachable-oscore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Submit version -01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buClr>
                <a:srgbClr val="00a9d4"/>
              </a:buClr>
              <a:buFont typeface="Arial"/>
              <a:buChar char="›"/>
              <a:tabLst>
                <a:tab algn="l" pos="0"/>
              </a:tabLst>
            </a:pPr>
            <a:r>
              <a:rPr b="0" lang="en-US" sz="2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Implementation</a:t>
            </a:r>
            <a:endParaRPr b="0" lang="en-GB" sz="24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00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Ready in aiocoap: </a:t>
            </a:r>
            <a:r>
              <a:rPr b="0" lang="en-US" sz="2000" spc="-1" strike="noStrike" u="sng">
                <a:solidFill>
                  <a:srgbClr val="58585a"/>
                </a:solidFill>
                <a:uFillTx/>
                <a:latin typeface="Calibri"/>
                <a:ea typeface="ＭＳ Ｐゴシック"/>
                <a:hlinkClick r:id="rId2"/>
              </a:rPr>
              <a:t>https://github.com/chrysn/aiocoap</a:t>
            </a:r>
            <a:endParaRPr b="0" lang="en-GB" sz="20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39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Partial embedded implementation being compared on IoT Lab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lvl="1" marL="533520" indent="-177480">
              <a:lnSpc>
                <a:spcPct val="100000"/>
              </a:lnSpc>
              <a:spcBef>
                <a:spcPts val="439"/>
              </a:spcBef>
              <a:buClr>
                <a:srgbClr val="58585a"/>
              </a:buClr>
              <a:buFont typeface="Ericsson Capital TT"/>
              <a:buChar char="–"/>
              <a:tabLst>
                <a:tab algn="l" pos="0"/>
              </a:tabLst>
            </a:pP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One more planned for Californium</a:t>
            </a: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39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 marL="176040" indent="-1756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200" spc="-1" strike="noStrike">
              <a:solidFill>
                <a:srgbClr val="58585a"/>
              </a:solidFill>
              <a:latin typeface="Calibri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393840" y="239760"/>
            <a:ext cx="7494120" cy="10850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>
              <a:lnSpc>
                <a:spcPct val="75000"/>
              </a:lnSpc>
            </a:pPr>
            <a:r>
              <a:rPr b="0" lang="en-US" sz="4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Next steps</a:t>
            </a:r>
            <a:endParaRPr b="0" lang="en-GB" sz="4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-167040" y="1013760"/>
            <a:ext cx="9478080" cy="504108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0" bIns="0" anchor="ctr">
            <a:noAutofit/>
          </a:bodyPr>
          <a:p>
            <a:pPr algn="ctr">
              <a:lnSpc>
                <a:spcPct val="75000"/>
              </a:lnSpc>
            </a:pPr>
            <a:r>
              <a:rPr b="0" lang="en-US" sz="5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Thank you!</a:t>
            </a:r>
            <a:br/>
            <a:br/>
            <a:r>
              <a:rPr b="0" lang="en-US" sz="5400" spc="-1" strike="noStrike">
                <a:solidFill>
                  <a:srgbClr val="58585a"/>
                </a:solidFill>
                <a:latin typeface="Calibri"/>
                <a:ea typeface="ＭＳ Ｐゴシック"/>
              </a:rPr>
              <a:t>Comments/questions? </a:t>
            </a:r>
            <a:br/>
            <a:endParaRPr b="0" lang="en-GB" sz="5400" spc="-1" strike="noStrike">
              <a:solidFill>
                <a:srgbClr val="58585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85e"/>
      </a:dk2>
      <a:lt2>
        <a:srgbClr val="b1b3b4"/>
      </a:lt2>
      <a:accent1>
        <a:srgbClr val="89ba17"/>
      </a:accent1>
      <a:accent2>
        <a:srgbClr val="f08a00"/>
      </a:accent2>
      <a:accent3>
        <a:srgbClr val="ffffff"/>
      </a:accent3>
      <a:accent4>
        <a:srgbClr val="4a4a4c"/>
      </a:accent4>
      <a:accent5>
        <a:srgbClr val="c4d9ab"/>
      </a:accent5>
      <a:accent6>
        <a:srgbClr val="d97d00"/>
      </a:accent6>
      <a:hlink>
        <a:srgbClr val="58585a"/>
      </a:hlink>
      <a:folHlink>
        <a:srgbClr val="00625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85e"/>
      </a:dk2>
      <a:lt2>
        <a:srgbClr val="b1b3b4"/>
      </a:lt2>
      <a:accent1>
        <a:srgbClr val="89ba17"/>
      </a:accent1>
      <a:accent2>
        <a:srgbClr val="f08a00"/>
      </a:accent2>
      <a:accent3>
        <a:srgbClr val="ffffff"/>
      </a:accent3>
      <a:accent4>
        <a:srgbClr val="4a4a4c"/>
      </a:accent4>
      <a:accent5>
        <a:srgbClr val="c4d9ab"/>
      </a:accent5>
      <a:accent6>
        <a:srgbClr val="d97d00"/>
      </a:accent6>
      <a:hlink>
        <a:srgbClr val="58585a"/>
      </a:hlink>
      <a:folHlink>
        <a:srgbClr val="00625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85e"/>
      </a:dk2>
      <a:lt2>
        <a:srgbClr val="b1b3b4"/>
      </a:lt2>
      <a:accent1>
        <a:srgbClr val="89ba17"/>
      </a:accent1>
      <a:accent2>
        <a:srgbClr val="f08a00"/>
      </a:accent2>
      <a:accent3>
        <a:srgbClr val="ffffff"/>
      </a:accent3>
      <a:accent4>
        <a:srgbClr val="4a4a4c"/>
      </a:accent4>
      <a:accent5>
        <a:srgbClr val="c4d9ab"/>
      </a:accent5>
      <a:accent6>
        <a:srgbClr val="d97d00"/>
      </a:accent6>
      <a:hlink>
        <a:srgbClr val="58585a"/>
      </a:hlink>
      <a:folHlink>
        <a:srgbClr val="00625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51738</TotalTime>
  <Application>LibreOffice/7.0.4.2$Linux_X86_64 LibreOffice_project/00$Build-2</Application>
  <AppVersion>15.0000</AppVersion>
  <Words>740</Words>
  <Paragraphs>127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2011-05-24T09:22:48Z</dcterms:created>
  <dc:creator/>
  <dc:description>Rev PA1</dc:description>
  <dc:language>en-GB</dc:language>
  <cp:lastModifiedBy>Christian Amsüss</cp:lastModifiedBy>
  <cp:lastPrinted>2015-07-19T16:41:56Z</cp:lastPrinted>
  <dcterms:modified xsi:type="dcterms:W3CDTF">2021-01-21T14:49:55Z</dcterms:modified>
  <cp:revision>1681</cp:revision>
  <dc:subject/>
  <dc:title>Object Security of CoAP (OSCOAP)    draft-ietf-core-object-security-00   Göran Selander, Ericsson John Mattsson, Ericsson Francesca Palombini, Ericsson Ludwig Seitz, SICS Swedish ICT  IETF 97, CORE WG, Seoul, Nov 11, 2016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rovedBy">
    <vt:lpwstr/>
  </property>
  <property fmtid="{D5CDD505-2E9C-101B-9397-08002B2CF9AE}" pid="3" name="Checked">
    <vt:lpwstr/>
  </property>
  <property fmtid="{D5CDD505-2E9C-101B-9397-08002B2CF9AE}" pid="4" name="Date">
    <vt:lpwstr>2016-11-02</vt:lpwstr>
  </property>
  <property fmtid="{D5CDD505-2E9C-101B-9397-08002B2CF9AE}" pid="5" name="DocName">
    <vt:lpwstr/>
  </property>
  <property fmtid="{D5CDD505-2E9C-101B-9397-08002B2CF9AE}" pid="6" name="DocNo">
    <vt:lpwstr/>
  </property>
  <property fmtid="{D5CDD505-2E9C-101B-9397-08002B2CF9AE}" pid="7" name="DocumentType">
    <vt:lpwstr>Presentation2011</vt:lpwstr>
  </property>
  <property fmtid="{D5CDD505-2E9C-101B-9397-08002B2CF9AE}" pid="8" name="DocumentType2">
    <vt:lpwstr>Presentation2011</vt:lpwstr>
  </property>
  <property fmtid="{D5CDD505-2E9C-101B-9397-08002B2CF9AE}" pid="9" name="EmbeddedFonts">
    <vt:bool>0</vt:bool>
  </property>
  <property fmtid="{D5CDD505-2E9C-101B-9397-08002B2CF9AE}" pid="10" name="FooterType">
    <vt:lpwstr>PresTemp</vt:lpwstr>
  </property>
  <property fmtid="{D5CDD505-2E9C-101B-9397-08002B2CF9AE}" pid="11" name="Keyword">
    <vt:lpwstr/>
  </property>
  <property fmtid="{D5CDD505-2E9C-101B-9397-08002B2CF9AE}" pid="12" name="LeftFooterField">
    <vt:lpwstr>CoRE WG</vt:lpwstr>
  </property>
  <property fmtid="{D5CDD505-2E9C-101B-9397-08002B2CF9AE}" pid="13" name="MiddleFooterField">
    <vt:lpwstr>Seoul</vt:lpwstr>
  </property>
  <property fmtid="{D5CDD505-2E9C-101B-9397-08002B2CF9AE}" pid="14" name="Notes">
    <vt:i4>2</vt:i4>
  </property>
  <property fmtid="{D5CDD505-2E9C-101B-9397-08002B2CF9AE}" pid="15" name="PackageNo">
    <vt:lpwstr>LXA 119 603</vt:lpwstr>
  </property>
  <property fmtid="{D5CDD505-2E9C-101B-9397-08002B2CF9AE}" pid="16" name="PackageVersion">
    <vt:lpwstr>R5C</vt:lpwstr>
  </property>
  <property fmtid="{D5CDD505-2E9C-101B-9397-08002B2CF9AE}" pid="17" name="Pages">
    <vt:bool>1</vt:bool>
  </property>
  <property fmtid="{D5CDD505-2E9C-101B-9397-08002B2CF9AE}" pid="18" name="Prepared">
    <vt:lpwstr/>
  </property>
  <property fmtid="{D5CDD505-2E9C-101B-9397-08002B2CF9AE}" pid="19" name="PresentationFormat">
    <vt:lpwstr>Presentazione su schermo (4:3)</vt:lpwstr>
  </property>
  <property fmtid="{D5CDD505-2E9C-101B-9397-08002B2CF9AE}" pid="20" name="Reference">
    <vt:lpwstr/>
  </property>
  <property fmtid="{D5CDD505-2E9C-101B-9397-08002B2CF9AE}" pid="21" name="Revision">
    <vt:lpwstr>PA1</vt:lpwstr>
  </property>
  <property fmtid="{D5CDD505-2E9C-101B-9397-08002B2CF9AE}" pid="22" name="RightFooterField">
    <vt:lpwstr>IETF 97</vt:lpwstr>
  </property>
  <property fmtid="{D5CDD505-2E9C-101B-9397-08002B2CF9AE}" pid="23" name="RightFooterField2">
    <vt:lpwstr>2016-11-02</vt:lpwstr>
  </property>
  <property fmtid="{D5CDD505-2E9C-101B-9397-08002B2CF9AE}" pid="24" name="SecurityClass">
    <vt:lpwstr>Ericsson Internal</vt:lpwstr>
  </property>
  <property fmtid="{D5CDD505-2E9C-101B-9397-08002B2CF9AE}" pid="25" name="Slides">
    <vt:i4>11</vt:i4>
  </property>
  <property fmtid="{D5CDD505-2E9C-101B-9397-08002B2CF9AE}" pid="26" name="TemplateName">
    <vt:lpwstr>CXC 173 2731/1</vt:lpwstr>
  </property>
  <property fmtid="{D5CDD505-2E9C-101B-9397-08002B2CF9AE}" pid="27" name="TemplateName2">
    <vt:lpwstr>CXC 173 2731/1</vt:lpwstr>
  </property>
  <property fmtid="{D5CDD505-2E9C-101B-9397-08002B2CF9AE}" pid="28" name="TemplateVersion">
    <vt:lpwstr>R1A</vt:lpwstr>
  </property>
  <property fmtid="{D5CDD505-2E9C-101B-9397-08002B2CF9AE}" pid="29" name="TemplateVersion2">
    <vt:lpwstr>R1A</vt:lpwstr>
  </property>
  <property fmtid="{D5CDD505-2E9C-101B-9397-08002B2CF9AE}" pid="30" name="Title">
    <vt:lpwstr/>
  </property>
  <property fmtid="{D5CDD505-2E9C-101B-9397-08002B2CF9AE}" pid="31" name="TotalNumb">
    <vt:bool>0</vt:bool>
  </property>
  <property fmtid="{D5CDD505-2E9C-101B-9397-08002B2CF9AE}" pid="32" name="UpdateProcess">
    <vt:lpwstr>End</vt:lpwstr>
  </property>
  <property fmtid="{D5CDD505-2E9C-101B-9397-08002B2CF9AE}" pid="33" name="UsedFont">
    <vt:lpwstr>Arial</vt:lpwstr>
  </property>
  <property fmtid="{D5CDD505-2E9C-101B-9397-08002B2CF9AE}" pid="34" name="White">
    <vt:bool>1</vt:bool>
  </property>
  <property fmtid="{D5CDD505-2E9C-101B-9397-08002B2CF9AE}" pid="35" name="chkMetaData">
    <vt:bool>0</vt:bool>
  </property>
  <property fmtid="{D5CDD505-2E9C-101B-9397-08002B2CF9AE}" pid="36" name="chkTaglines">
    <vt:bool>0</vt:bool>
  </property>
  <property fmtid="{D5CDD505-2E9C-101B-9397-08002B2CF9AE}" pid="37" name="optEnterText1">
    <vt:bool>1</vt:bool>
  </property>
  <property fmtid="{D5CDD505-2E9C-101B-9397-08002B2CF9AE}" pid="38" name="optEnterText2">
    <vt:bool>1</vt:bool>
  </property>
  <property fmtid="{D5CDD505-2E9C-101B-9397-08002B2CF9AE}" pid="39" name="optEnterText3">
    <vt:bool>1</vt:bool>
  </property>
  <property fmtid="{D5CDD505-2E9C-101B-9397-08002B2CF9AE}" pid="40" name="optEnterText4">
    <vt:bool>0</vt:bool>
  </property>
  <property fmtid="{D5CDD505-2E9C-101B-9397-08002B2CF9AE}" pid="41" name="optFooterCVLConfLabel">
    <vt:bool>0</vt:bool>
  </property>
  <property fmtid="{D5CDD505-2E9C-101B-9397-08002B2CF9AE}" pid="42" name="optFooterCVLCopyright">
    <vt:bool>0</vt:bool>
  </property>
  <property fmtid="{D5CDD505-2E9C-101B-9397-08002B2CF9AE}" pid="43" name="optFooterCVLDate">
    <vt:bool>1</vt:bool>
  </property>
  <property fmtid="{D5CDD505-2E9C-101B-9397-08002B2CF9AE}" pid="44" name="optFooterCVLDocNo">
    <vt:bool>0</vt:bool>
  </property>
  <property fmtid="{D5CDD505-2E9C-101B-9397-08002B2CF9AE}" pid="45" name="optFooterCVLPrep">
    <vt:bool>0</vt:bool>
  </property>
  <property fmtid="{D5CDD505-2E9C-101B-9397-08002B2CF9AE}" pid="46" name="optFooterCVLTitle">
    <vt:bool>0</vt:bool>
  </property>
  <property fmtid="{D5CDD505-2E9C-101B-9397-08002B2CF9AE}" pid="47" name="optUseConfClass">
    <vt:bool>1</vt:bool>
  </property>
  <property fmtid="{D5CDD505-2E9C-101B-9397-08002B2CF9AE}" pid="48" name="optUseConfLabel">
    <vt:bool>0</vt:bool>
  </property>
  <property fmtid="{D5CDD505-2E9C-101B-9397-08002B2CF9AE}" pid="49" name="txtConfLabel">
    <vt:lpwstr>Ericsson Internal</vt:lpwstr>
  </property>
  <property fmtid="{D5CDD505-2E9C-101B-9397-08002B2CF9AE}" pid="50" name="x">
    <vt:lpwstr>1</vt:lpwstr>
  </property>
</Properties>
</file>